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96D371-AEC9-ECDA-FA67-23E0CD8CB58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7AB83C-4548-D868-3822-02B73F50383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AA74D-8600-444B-BB9C-3AB1247722A2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E047A5-CA88-6385-034A-AFB542DF83D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C314E-82E5-38A6-56F5-EE69930F73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4FCF2-92E3-4DA1-98ED-45D6C162D9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9701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5008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E5BD7-716C-CAF6-2061-78FD68A37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9A5A-B818-9CAB-1E85-B22DE4639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38A20C-D8AB-949A-6406-BD7A48C08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BDFFD-58F8-B4F5-15F4-53476EC4C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1983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914400"/>
            <a:ext cx="109728" cy="3383280"/>
          </a:xfrm>
          <a:prstGeom prst="rect">
            <a:avLst/>
          </a:prstGeom>
          <a:solidFill>
            <a:srgbClr val="007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960120"/>
            <a:ext cx="10058400" cy="1554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LLM Prompting</a:t>
            </a:r>
          </a:p>
          <a:p>
            <a:pPr>
              <a:spcAft>
                <a:spcPts val="7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Strategy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743200"/>
            <a:ext cx="9875520" cy="5029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BADAEF"/>
                </a:solidFill>
                <a:latin typeface="Aptos"/>
              </a:defRPr>
            </a:pPr>
            <a:r>
              <a:t>Zero-shot vs Good Few-shot vs Poor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9875520" cy="5029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Customer complaint classification using Qwen2.5:3B + Ollama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754880"/>
            <a:ext cx="9875520" cy="100584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Aptos"/>
              </a:defRPr>
            </a:pPr>
            <a:r>
              <a:rPr dirty="0"/>
              <a:t>Group</a:t>
            </a:r>
            <a:r>
              <a:rPr lang="en-IN" dirty="0"/>
              <a:t>            </a:t>
            </a:r>
            <a:r>
              <a:rPr dirty="0"/>
              <a:t>:</a:t>
            </a:r>
            <a:r>
              <a:rPr lang="en-IN" dirty="0"/>
              <a:t>   07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Aptos"/>
              </a:defRPr>
            </a:pPr>
            <a:r>
              <a:rPr lang="en-IN" dirty="0"/>
              <a:t>Presenter(s):  Anzar Eqbal(MT/AI/10002/26), Md Sartaj Hussain(MT/AI/10018/26)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Aptos"/>
              </a:defRPr>
            </a:pPr>
            <a:r>
              <a:rPr dirty="0"/>
              <a:t>Institute: BIT </a:t>
            </a:r>
            <a:r>
              <a:rPr dirty="0" err="1"/>
              <a:t>Mesra</a:t>
            </a:r>
            <a:r>
              <a:rPr dirty="0"/>
              <a:t>  |  Program: </a:t>
            </a:r>
            <a:r>
              <a:rPr dirty="0" err="1"/>
              <a:t>M.Tech</a:t>
            </a:r>
            <a:r>
              <a:rPr lang="en-IN" dirty="0"/>
              <a:t>(AI&amp;ML)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1. Real-World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10789920" cy="5029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52A4B"/>
                </a:solidFill>
                <a:latin typeface="Aptos"/>
              </a:defRPr>
            </a:pPr>
            <a:r>
              <a:t>Customer-support teams receive large volumes of messages every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233172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2103120" cy="6400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2A70B0"/>
                </a:solidFill>
                <a:latin typeface="Aptos"/>
              </a:defRPr>
            </a:pPr>
            <a:r>
              <a:t>Customer</a:t>
            </a:r>
          </a:p>
          <a:p>
            <a:pPr algn="ctr">
              <a:spcAft>
                <a:spcPts val="700"/>
              </a:spcAft>
              <a:defRPr sz="2000" b="1">
                <a:solidFill>
                  <a:srgbClr val="2A70B0"/>
                </a:solidFill>
                <a:latin typeface="Aptos"/>
              </a:defRPr>
            </a:pPr>
            <a:r>
              <a:t>complaint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20240"/>
            <a:ext cx="233172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00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70248" y="2148840"/>
            <a:ext cx="2103120" cy="6400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007D82"/>
                </a:solidFill>
                <a:latin typeface="Aptos"/>
              </a:defRPr>
            </a:pPr>
            <a:r>
              <a:t>LLM</a:t>
            </a:r>
          </a:p>
          <a:p>
            <a:pPr algn="ctr">
              <a:spcAft>
                <a:spcPts val="700"/>
              </a:spcAft>
              <a:defRPr sz="2000" b="1">
                <a:solidFill>
                  <a:srgbClr val="007D82"/>
                </a:solidFill>
                <a:latin typeface="Aptos"/>
              </a:defRPr>
            </a:pPr>
            <a:r>
              <a:t>classifier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920240"/>
            <a:ext cx="233172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E1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44967" y="2148840"/>
            <a:ext cx="2103120" cy="6400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E17E30"/>
                </a:solidFill>
                <a:latin typeface="Aptos"/>
              </a:defRPr>
            </a:pPr>
            <a:r>
              <a:t>Support</a:t>
            </a:r>
          </a:p>
          <a:p>
            <a:pPr algn="ctr">
              <a:spcAft>
                <a:spcPts val="700"/>
              </a:spcAft>
              <a:defRPr sz="2000" b="1">
                <a:solidFill>
                  <a:srgbClr val="E17E30"/>
                </a:solidFill>
                <a:latin typeface="Aptos"/>
              </a:defRPr>
            </a:pPr>
            <a:r>
              <a:t>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176272"/>
            <a:ext cx="640080" cy="45720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5F69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176272"/>
            <a:ext cx="640080" cy="45720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5F69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10424160" cy="192024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52D37"/>
                </a:solidFill>
                <a:latin typeface="Aptos"/>
              </a:defRPr>
            </a:pPr>
            <a:r>
              <a:t>• Manual sorting can be slow and inconsistent.</a:t>
            </a:r>
          </a:p>
          <a:p>
            <a:pPr>
              <a:spcAft>
                <a:spcPts val="800"/>
              </a:spcAft>
              <a:defRPr sz="1800">
                <a:solidFill>
                  <a:srgbClr val="252D37"/>
                </a:solidFill>
                <a:latin typeface="Aptos"/>
              </a:defRPr>
            </a:pPr>
            <a:r>
              <a:t>• Incorrect routing delays refunds, technical support, deliveries, or account recovery.</a:t>
            </a:r>
          </a:p>
          <a:p>
            <a:pPr>
              <a:spcAft>
                <a:spcPts val="800"/>
              </a:spcAft>
              <a:defRPr sz="1800">
                <a:solidFill>
                  <a:srgbClr val="252D37"/>
                </a:solidFill>
                <a:latin typeface="Aptos"/>
              </a:defRPr>
            </a:pPr>
            <a:r>
              <a:t>• Automatic classification can help route messages to the right team.</a:t>
            </a:r>
          </a:p>
          <a:p>
            <a:pPr>
              <a:spcAft>
                <a:spcPts val="800"/>
              </a:spcAft>
              <a:defRPr sz="1800">
                <a:solidFill>
                  <a:srgbClr val="252D37"/>
                </a:solidFill>
                <a:latin typeface="Aptos"/>
              </a:defRPr>
            </a:pPr>
            <a:r>
              <a:t>• Model decisions may depend on how instructions and examples are written.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806440"/>
            <a:ext cx="10515600" cy="50292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5870448"/>
            <a:ext cx="10259568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Motivation: test whether prompt examples improve or harm category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2. Research Question &amp;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274320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A70B0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10607040" cy="8229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252D37"/>
                </a:solidFill>
                <a:latin typeface="Aptos"/>
              </a:defRPr>
            </a:pPr>
            <a:r>
              <a:t>How do zero-shot, good few-shot, and deliberately poor few-shot prompts affect complaint-classification performance?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28600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A70B0"/>
                </a:solidFill>
                <a:latin typeface="Aptos"/>
              </a:defRPr>
            </a:pPr>
            <a:r>
              <a:t>Hypotheses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10424160" cy="192024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11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H1: Correctly labeled examples may guide the model and improve consistency.</a:t>
            </a:r>
          </a:p>
          <a:p>
            <a:pPr>
              <a:spcAft>
                <a:spcPts val="11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H2: Incorrectly labeled examples may confuse the model and reduce performance.</a:t>
            </a:r>
          </a:p>
          <a:p>
            <a:pPr>
              <a:spcAft>
                <a:spcPts val="11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H3: Clear category definitions may let zero-shot perform similarly to good few-shot.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23560"/>
            <a:ext cx="10515600" cy="594360"/>
          </a:xfrm>
          <a:prstGeom prst="roundRect">
            <a:avLst/>
          </a:prstGeom>
          <a:solidFill>
            <a:srgbClr val="FFF6E8"/>
          </a:solidFill>
          <a:ln>
            <a:solidFill>
              <a:srgbClr val="E1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5687568"/>
            <a:ext cx="10259568" cy="47548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52D37"/>
                </a:solidFill>
                <a:latin typeface="Aptos"/>
              </a:defRPr>
            </a:pPr>
            <a:r>
              <a:t>These are hypotheses to test—not results to assume in advance.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3. Dataset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251460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2331720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A70B0"/>
                </a:solidFill>
                <a:latin typeface="Aptos"/>
              </a:defRPr>
            </a:pPr>
            <a:r>
              <a:t>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2331720" cy="2743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252D37"/>
                </a:solidFill>
                <a:latin typeface="Aptos"/>
              </a:defRPr>
            </a:pPr>
            <a:r>
              <a:t>generated complaints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234440"/>
            <a:ext cx="251460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00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1389888"/>
            <a:ext cx="2331720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007D82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74519"/>
            <a:ext cx="2331720" cy="2743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252D37"/>
                </a:solidFill>
                <a:latin typeface="Aptos"/>
              </a:defRPr>
            </a:pPr>
            <a:r>
              <a:t>categories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234440"/>
            <a:ext cx="251460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E1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89888"/>
            <a:ext cx="2331720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E17E30"/>
                </a:solidFill>
                <a:latin typeface="Aptos"/>
              </a:defRPr>
            </a:pPr>
            <a:r>
              <a:t>750 / 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74519"/>
            <a:ext cx="2331720" cy="2743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252D37"/>
                </a:solidFill>
                <a:latin typeface="Aptos"/>
              </a:defRPr>
            </a:pPr>
            <a:r>
              <a:t>train /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234440"/>
            <a:ext cx="2514600" cy="1143000"/>
          </a:xfrm>
          <a:prstGeom prst="roundRect">
            <a:avLst/>
          </a:prstGeom>
          <a:solidFill>
            <a:srgbClr val="EFF5FB"/>
          </a:solidFill>
          <a:ln>
            <a:solidFill>
              <a:srgbClr val="4980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81160" y="1389888"/>
            <a:ext cx="2331720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498051"/>
                </a:solidFill>
                <a:latin typeface="Aptos"/>
              </a:defRPr>
            </a:pPr>
            <a:r>
              <a:t>250 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1874519"/>
            <a:ext cx="2331720" cy="27432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252D37"/>
                </a:solidFill>
                <a:latin typeface="Aptos"/>
              </a:defRPr>
            </a:pPr>
            <a:r>
              <a:t>per category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743200"/>
            <a:ext cx="274320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52A4B"/>
                </a:solidFill>
                <a:latin typeface="Aptos"/>
              </a:defRPr>
            </a:pPr>
            <a:r>
              <a:t>Labels and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00400"/>
            <a:ext cx="5486400" cy="219456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Billing — charges, invoices, payments, refunds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Technical — software bugs, crashes, website errors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Delivery — shipping, tracking, parcel problems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Account — login, password, profile,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274320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52A4B"/>
                </a:solidFill>
                <a:latin typeface="Aptos"/>
              </a:defRPr>
            </a:pPr>
            <a:r>
              <a:t>Data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200400"/>
            <a:ext cx="4846320" cy="219456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25 base descriptions per category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10 sentence patterns per description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Saved to data/complaints.csv</a:t>
            </a:r>
          </a:p>
          <a:p>
            <a:pPr>
              <a:spcAft>
                <a:spcPts val="8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Stratified split preserves class proportions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806440"/>
            <a:ext cx="10607040" cy="502920"/>
          </a:xfrm>
          <a:prstGeom prst="roundRect">
            <a:avLst/>
          </a:prstGeom>
          <a:solidFill>
            <a:srgbClr val="FFF6E8"/>
          </a:solidFill>
          <a:ln>
            <a:solidFill>
              <a:srgbClr val="E17E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5256" y="5870448"/>
            <a:ext cx="10351008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Limitation: rows are template-generated, not 1,000 independently written real complaints.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4.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143000"/>
            <a:ext cx="10652760" cy="100584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307592"/>
            <a:ext cx="50292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2A70B0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280160"/>
            <a:ext cx="237744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A70B0"/>
                </a:solidFill>
                <a:latin typeface="Aptos"/>
              </a:defRPr>
            </a:pPr>
            <a: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261872"/>
            <a:ext cx="7178040" cy="621792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52D37"/>
                </a:solidFill>
                <a:latin typeface="Aptos"/>
              </a:defRPr>
            </a:pPr>
            <a:r>
              <a:t>Category definitions + test complaint; no labeled demonstrations.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10652760" cy="1005840"/>
          </a:xfrm>
          <a:prstGeom prst="roundRect">
            <a:avLst/>
          </a:prstGeom>
          <a:solidFill>
            <a:srgbClr val="EFF5FB"/>
          </a:solidFill>
          <a:ln>
            <a:solidFill>
              <a:srgbClr val="4980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33472"/>
            <a:ext cx="50292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498051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06040"/>
            <a:ext cx="237744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98051"/>
                </a:solidFill>
                <a:latin typeface="Aptos"/>
              </a:defRPr>
            </a:pPr>
            <a:r>
              <a:t>Good 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87752"/>
            <a:ext cx="7178040" cy="621792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52D37"/>
                </a:solidFill>
                <a:latin typeface="Aptos"/>
              </a:defRPr>
            </a:pPr>
            <a:r>
              <a:t>Same instructions plus correctly labeled training examples.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94760"/>
            <a:ext cx="10652760" cy="1005840"/>
          </a:xfrm>
          <a:prstGeom prst="roundRect">
            <a:avLst/>
          </a:prstGeom>
          <a:solidFill>
            <a:srgbClr val="EFF5FB"/>
          </a:solidFill>
          <a:ln>
            <a:solidFill>
              <a:srgbClr val="B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959352"/>
            <a:ext cx="50292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B73737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31920"/>
            <a:ext cx="237744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B73737"/>
                </a:solidFill>
                <a:latin typeface="Aptos"/>
              </a:defRPr>
            </a:pPr>
            <a:r>
              <a:t>Poor few-shot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913632"/>
            <a:ext cx="7178040" cy="621792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52D37"/>
                </a:solidFill>
                <a:latin typeface="Aptos"/>
              </a:defRPr>
            </a:pPr>
            <a:r>
              <a:t>Same instructions, but demonstration labels are deliberately mismatched.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40680"/>
            <a:ext cx="10607040" cy="77724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" y="5504688"/>
            <a:ext cx="10351008" cy="65836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52D37"/>
                </a:solidFill>
                <a:latin typeface="Aptos"/>
              </a:defRPr>
            </a:pPr>
            <a:r>
              <a:t>Fair comparison: keep model, test set, definitions, output format, and evaluation fixed; change only the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5.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97280"/>
            <a:ext cx="10607040" cy="420624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Model: qwen2.5:3b, run locally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Runtime: Ollama; no OpenAI API key required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Output format: JSON with one category label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Temperature: 0 to reduce sampling variation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Stratified 75/25 split; random_state = 42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Metrics: Accuracy, macro Precision, macro Recall, Macro-F1</a:t>
            </a:r>
          </a:p>
          <a:p>
            <a:pPr>
              <a:spcAft>
                <a:spcPts val="900"/>
              </a:spcAft>
              <a:defRPr sz="1900">
                <a:solidFill>
                  <a:srgbClr val="252D37"/>
                </a:solidFill>
                <a:latin typeface="Aptos"/>
              </a:defRPr>
            </a:pPr>
            <a:r>
              <a:t>• Outputs: metrics.csv, predictions.csv, chart, confusion matrices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577840"/>
            <a:ext cx="10607040" cy="59436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5641848"/>
            <a:ext cx="10351008" cy="47548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252D37"/>
                </a:solidFill>
                <a:latin typeface="Aptos"/>
              </a:defRPr>
            </a:pPr>
            <a:r>
              <a:t>All three strategies use the same test set, enabling a direct comparison.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6. Results: Strategy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6" name="Picture 5" descr="compariso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80744"/>
            <a:ext cx="6903720" cy="41422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325880"/>
            <a:ext cx="3886200" cy="1078992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435607"/>
            <a:ext cx="210312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2A70B0"/>
                </a:solidFill>
                <a:latin typeface="Aptos"/>
              </a:defRPr>
            </a:pPr>
            <a: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474720" cy="32004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Accuracy 98.4% | Macro-F1 0.984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79191"/>
            <a:ext cx="3886200" cy="1078992"/>
          </a:xfrm>
          <a:prstGeom prst="roundRect">
            <a:avLst/>
          </a:prstGeom>
          <a:solidFill>
            <a:srgbClr val="EFF5FB"/>
          </a:solidFill>
          <a:ln>
            <a:solidFill>
              <a:srgbClr val="4980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26679" y="2788920"/>
            <a:ext cx="210312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498051"/>
                </a:solidFill>
                <a:latin typeface="Aptos"/>
              </a:defRPr>
            </a:pPr>
            <a:r>
              <a:t>Good few-shot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182111"/>
            <a:ext cx="3474720" cy="32004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Accuracy 97.2% | Macro-F1 0.972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886200" cy="1078992"/>
          </a:xfrm>
          <a:prstGeom prst="roundRect">
            <a:avLst/>
          </a:prstGeom>
          <a:solidFill>
            <a:srgbClr val="EFF5FB"/>
          </a:solidFill>
          <a:ln>
            <a:solidFill>
              <a:srgbClr val="B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26679" y="4142232"/>
            <a:ext cx="210312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B73737"/>
                </a:solidFill>
                <a:latin typeface="Aptos"/>
              </a:defRPr>
            </a:pPr>
            <a:r>
              <a:t>Poor few-shot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4535424"/>
            <a:ext cx="3474720" cy="32004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Accuracy 92.8% | Macro-F1 0.929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5623560"/>
            <a:ext cx="3886200" cy="548640"/>
          </a:xfrm>
          <a:prstGeom prst="roundRect">
            <a:avLst/>
          </a:prstGeom>
          <a:solidFill>
            <a:srgbClr val="EFF5FB"/>
          </a:solidFill>
          <a:ln>
            <a:solidFill>
              <a:srgbClr val="00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71816" y="5687568"/>
            <a:ext cx="3630168" cy="42976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Best observed: zero-shot. Lowest: poor few-shot.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7. Interesting / Failure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6" name="Picture 5" descr="poor_few_sho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29937"/>
            <a:ext cx="6629400" cy="47352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78040" y="1234440"/>
            <a:ext cx="3840480" cy="41148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52A4B"/>
                </a:solidFill>
                <a:latin typeface="Aptos"/>
              </a:defRPr>
            </a:pPr>
            <a:r>
              <a:t>What stands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297680" cy="310896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Poor few-shot: 12 actual Account complaints predicted as Billing.</a:t>
            </a:r>
          </a:p>
          <a:p>
            <a:pPr>
              <a:spcAft>
                <a:spcPts val="10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Technical complaints were occasionally confused with Billing or Account.</a:t>
            </a:r>
          </a:p>
          <a:p>
            <a:pPr>
              <a:spcAft>
                <a:spcPts val="10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Zero-shot made fewer total errors than either few-shot condition.</a:t>
            </a:r>
          </a:p>
          <a:p>
            <a:pPr>
              <a:spcAft>
                <a:spcPts val="10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Incorrect demonstrations may bias the model toward wrong labels.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5257800"/>
            <a:ext cx="4297680" cy="82296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06055" y="5321808"/>
            <a:ext cx="4041648" cy="70408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Rows = actual class; columns = predicted class; diagonal = correct predictions.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8912" y="91440"/>
            <a:ext cx="10881360" cy="438912"/>
          </a:xfrm>
          <a:prstGeom prst="rect">
            <a:avLst/>
          </a:prstGeom>
          <a:noFill/>
        </p:spPr>
        <p:txBody>
          <a:bodyPr wrap="square" lIns="64008" rIns="64008" anchor="ctr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8. Conclusion,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848" y="137160"/>
            <a:ext cx="411480" cy="29260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 algn="r">
              <a:spcAft>
                <a:spcPts val="7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219456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A70B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424160" cy="141732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Prompt strategy affected performance in this experiment.</a:t>
            </a:r>
          </a:p>
          <a:p>
            <a:pPr>
              <a:spcAft>
                <a:spcPts val="7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Zero-shot was strongest; deliberately poor examples produced the most errors.</a:t>
            </a:r>
          </a:p>
          <a:p>
            <a:pPr>
              <a:spcAft>
                <a:spcPts val="700"/>
              </a:spcAft>
              <a:defRPr sz="1700">
                <a:solidFill>
                  <a:srgbClr val="252D37"/>
                </a:solidFill>
                <a:latin typeface="Aptos"/>
              </a:defRPr>
            </a:pPr>
            <a:r>
              <a:t>• Good examples did not outperform clear category instructions in this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219456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E17E30"/>
                </a:solidFill>
                <a:latin typeface="Aptos"/>
              </a:defRPr>
            </a:pPr>
            <a: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5212080" cy="155448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Synthetic, templated data can cause near-duplicate train/test examples.</a:t>
            </a:r>
          </a:p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Only one model and one split are represented.</a:t>
            </a:r>
          </a:p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Results may not transfer to ambiguous real complaints.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154680"/>
            <a:ext cx="2194560" cy="365760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07D82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566160"/>
            <a:ext cx="5029200" cy="1645920"/>
          </a:xfrm>
          <a:prstGeom prst="rect">
            <a:avLst/>
          </a:prstGeom>
          <a:noFill/>
        </p:spPr>
        <p:txBody>
          <a:bodyPr wrap="square" rIns="7315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Use real or independently written complaints.</a:t>
            </a:r>
          </a:p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Split by base complaint before paraphrasing.</a:t>
            </a:r>
          </a:p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Test multiple seeds and models; report mean ± standard deviation.</a:t>
            </a:r>
          </a:p>
          <a:p>
            <a:pPr>
              <a:spcAft>
                <a:spcPts val="700"/>
              </a:spcAft>
              <a:defRPr sz="1600">
                <a:solidFill>
                  <a:srgbClr val="252D37"/>
                </a:solidFill>
                <a:latin typeface="Aptos"/>
              </a:defRPr>
            </a:pPr>
            <a:r>
              <a:t>• Review per-class metrics and individual errors.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02920"/>
          </a:xfrm>
          <a:prstGeom prst="roundRect">
            <a:avLst/>
          </a:prstGeom>
          <a:solidFill>
            <a:srgbClr val="EFF5FB"/>
          </a:solidFill>
          <a:ln>
            <a:solidFill>
              <a:srgbClr val="2A7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" y="5870448"/>
            <a:ext cx="10351008" cy="384048"/>
          </a:xfrm>
          <a:prstGeom prst="rect">
            <a:avLst/>
          </a:prstGeom>
          <a:noFill/>
        </p:spPr>
        <p:txBody>
          <a:bodyPr wrap="square" lIns="64008" rIns="64008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52D37"/>
                </a:solidFill>
                <a:latin typeface="Aptos"/>
              </a:defRPr>
            </a:pPr>
            <a:r>
              <a:t>Takeaway: prompt examples can help or hurt; test them on a realistic evaluation set.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B4B7FC-343B-742F-F387-56F2EA39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CA5790-C701-727E-955B-4536D20C3C42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52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1E738F-A117-728D-E2DD-720D1F75C1FE}"/>
              </a:ext>
            </a:extLst>
          </p:cNvPr>
          <p:cNvSpPr txBox="1"/>
          <p:nvPr/>
        </p:nvSpPr>
        <p:spPr>
          <a:xfrm>
            <a:off x="3156002" y="2921168"/>
            <a:ext cx="58796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630382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730</Words>
  <Application>Microsoft Office PowerPoint</Application>
  <PresentationFormat>Widescreen</PresentationFormat>
  <Paragraphs>109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</dc:creator>
  <cp:keywords/>
  <dc:description>generated using python-pptx</dc:description>
  <cp:lastModifiedBy>Anzar Eqbal</cp:lastModifiedBy>
  <cp:revision>5</cp:revision>
  <dcterms:created xsi:type="dcterms:W3CDTF">2013-01-27T09:14:16Z</dcterms:created>
  <dcterms:modified xsi:type="dcterms:W3CDTF">2026-10-13T07:57:23Z</dcterms:modified>
  <cp:category/>
</cp:coreProperties>
</file>