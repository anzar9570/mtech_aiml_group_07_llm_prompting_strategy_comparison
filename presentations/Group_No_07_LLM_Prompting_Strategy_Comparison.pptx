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5008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time: 1 minute. Introduce the project as a comparison of three prompting strategies for a local language model. Replace the team and presenter placeholders before presenting. This is prompting-based evaluation, not model fine-tuning.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time: 2 minutes. Explain how automatic routing may save support teams time, but errors have a cost. This is a prototype experiment, not a deployed support system.</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time: 2 minutes. Explain that hypotheses predict possible outcomes but are not guaranteed. Scientific evaluation tests them rather than forcing results to match expectations.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time: 2.5 minutes. The dataset has four balanced categories, 250 examples each. A 75/25 split yields 750 train and 250 test examples. It is generated from 25 base descriptions per category and ten sentence patterns. Similar wording can occur in train and test, potentially making evaluation optimistic.</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time: 2 minutes. Explain each condition. Few-shot prompting does not update model weights; examples are placed in the prompt context. The poor condition is an artificial stress test, not a recommended technique.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time: 2 minutes. Temperature zero reduces sampling variation but cannot guarantee identical outputs in every environment. Stratification preserves class proportions. Predictions are compared against known labels. Multiple random seeds would make the study stronger.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time: 2.5 minutes.</a:t>
            </a:r>
          </a:p>
          <a:p>
            <a:r>
              <a:t>From the supplied confusion matrices: zero-shot 246/250 = 98.4%; good few-shot 243/250 = 97.2%; poor few-shot 232/250 = 92.8%. Macro-F1: 0.984, 0.972, and 0.929. This is a result for this setup, not a universal rule that zero-shot is always better.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time: 2.5 minutes. In the poor few-shot matrix, 12 Account complaints were classified as Billing. Off-diagonal cells show mistakes. This pattern is consistent with misleading examples affecting decisions, although the matrix alone does not prove causation. Individual examples can be inspected in predictions.csv.</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time: 2 minutes. Acknowledge that synthetic repeated templates may inflate performance. Future experiments should use independent examples, prevent related wording from leaking across splits, run multiple seeds, and compare more models.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E5BD7-716C-CAF6-2061-78FD68A37F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239A5A-B818-9CAB-1E85-B22DE4639F3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238A20C-D8AB-949A-6406-BD7A48C08432}"/>
              </a:ext>
            </a:extLst>
          </p:cNvPr>
          <p:cNvSpPr>
            <a:spLocks noGrp="1"/>
          </p:cNvSpPr>
          <p:nvPr>
            <p:ph type="body" sz="quarter" idx="3"/>
          </p:nvPr>
        </p:nvSpPr>
        <p:spPr/>
        <p:txBody>
          <a:bodyPr/>
          <a:lstStyle/>
          <a:p>
            <a:r>
              <a:t>Suggested time: 2 minutes. Acknowledge that synthetic repeated templates may inflate performance. Future experiments should use independent examples, prevent related wording from leaking across splits, run multiple seeds, and compare more models.</a:t>
            </a:r>
          </a:p>
        </p:txBody>
      </p:sp>
      <p:sp>
        <p:nvSpPr>
          <p:cNvPr id="4" name="Slide Number Placeholder 3">
            <a:extLst>
              <a:ext uri="{FF2B5EF4-FFF2-40B4-BE49-F238E27FC236}">
                <a16:creationId xmlns:a16="http://schemas.microsoft.com/office/drawing/2014/main" id="{33FBDFFD-58F8-B4F5-15F4-53476EC4C960}"/>
              </a:ext>
            </a:extLst>
          </p:cNvPr>
          <p:cNvSpPr>
            <a:spLocks noGrp="1"/>
          </p:cNvSpPr>
          <p:nvPr>
            <p:ph type="sldNum" sz="quarter" idx="5"/>
          </p:nvPr>
        </p:nvSpPr>
        <p:spPr/>
      </p:sp>
    </p:spTree>
    <p:extLst>
      <p:ext uri="{BB962C8B-B14F-4D97-AF65-F5344CB8AC3E}">
        <p14:creationId xmlns:p14="http://schemas.microsoft.com/office/powerpoint/2010/main" val="33719837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52A4B"/>
        </a:solidFill>
        <a:effectLst/>
      </p:bgPr>
    </p:bg>
    <p:spTree>
      <p:nvGrpSpPr>
        <p:cNvPr id="1" name=""/>
        <p:cNvGrpSpPr/>
        <p:nvPr/>
      </p:nvGrpSpPr>
      <p:grpSpPr>
        <a:xfrm>
          <a:off x="0" y="0"/>
          <a:ext cx="0" cy="0"/>
          <a:chOff x="0" y="0"/>
          <a:chExt cx="0" cy="0"/>
        </a:xfrm>
      </p:grpSpPr>
      <p:sp>
        <p:nvSpPr>
          <p:cNvPr id="2" name="Rectangle 1"/>
          <p:cNvSpPr/>
          <p:nvPr/>
        </p:nvSpPr>
        <p:spPr>
          <a:xfrm>
            <a:off x="640080" y="914400"/>
            <a:ext cx="109728" cy="3383280"/>
          </a:xfrm>
          <a:prstGeom prst="rect">
            <a:avLst/>
          </a:prstGeom>
          <a:solidFill>
            <a:srgbClr val="007D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0120" y="960120"/>
            <a:ext cx="10058400" cy="1554480"/>
          </a:xfrm>
          <a:prstGeom prst="rect">
            <a:avLst/>
          </a:prstGeom>
          <a:noFill/>
        </p:spPr>
        <p:txBody>
          <a:bodyPr wrap="square" lIns="64008" rIns="64008" anchor="t">
            <a:spAutoFit/>
          </a:bodyPr>
          <a:lstStyle/>
          <a:p>
            <a:pPr>
              <a:spcAft>
                <a:spcPts val="700"/>
              </a:spcAft>
              <a:defRPr sz="3600" b="1">
                <a:solidFill>
                  <a:srgbClr val="FFFFFF"/>
                </a:solidFill>
                <a:latin typeface="Aptos"/>
              </a:defRPr>
            </a:pPr>
            <a:r>
              <a:t>LLM Prompting</a:t>
            </a:r>
          </a:p>
          <a:p>
            <a:pPr>
              <a:spcAft>
                <a:spcPts val="700"/>
              </a:spcAft>
              <a:defRPr sz="3600" b="1">
                <a:solidFill>
                  <a:srgbClr val="FFFFFF"/>
                </a:solidFill>
                <a:latin typeface="Aptos"/>
              </a:defRPr>
            </a:pPr>
            <a:r>
              <a:t>Strategy Comparison</a:t>
            </a:r>
          </a:p>
        </p:txBody>
      </p:sp>
      <p:sp>
        <p:nvSpPr>
          <p:cNvPr id="4" name="TextBox 3"/>
          <p:cNvSpPr txBox="1"/>
          <p:nvPr/>
        </p:nvSpPr>
        <p:spPr>
          <a:xfrm>
            <a:off x="1005840" y="2743200"/>
            <a:ext cx="9875520" cy="502920"/>
          </a:xfrm>
          <a:prstGeom prst="rect">
            <a:avLst/>
          </a:prstGeom>
          <a:noFill/>
        </p:spPr>
        <p:txBody>
          <a:bodyPr wrap="square" lIns="64008" rIns="64008" anchor="t">
            <a:spAutoFit/>
          </a:bodyPr>
          <a:lstStyle/>
          <a:p>
            <a:pPr>
              <a:spcAft>
                <a:spcPts val="700"/>
              </a:spcAft>
              <a:defRPr sz="2200" b="0">
                <a:solidFill>
                  <a:srgbClr val="BADAEF"/>
                </a:solidFill>
                <a:latin typeface="Aptos"/>
              </a:defRPr>
            </a:pPr>
            <a:r>
              <a:t>Zero-shot vs Good Few-shot vs Poor Few-shot</a:t>
            </a:r>
          </a:p>
        </p:txBody>
      </p:sp>
      <p:sp>
        <p:nvSpPr>
          <p:cNvPr id="5" name="TextBox 4"/>
          <p:cNvSpPr txBox="1"/>
          <p:nvPr/>
        </p:nvSpPr>
        <p:spPr>
          <a:xfrm>
            <a:off x="1005840" y="3474720"/>
            <a:ext cx="9875520" cy="502920"/>
          </a:xfrm>
          <a:prstGeom prst="rect">
            <a:avLst/>
          </a:prstGeom>
          <a:noFill/>
        </p:spPr>
        <p:txBody>
          <a:bodyPr wrap="square" lIns="64008" rIns="64008" anchor="t">
            <a:spAutoFit/>
          </a:bodyPr>
          <a:lstStyle/>
          <a:p>
            <a:pPr>
              <a:spcAft>
                <a:spcPts val="700"/>
              </a:spcAft>
              <a:defRPr sz="1800" b="0">
                <a:solidFill>
                  <a:srgbClr val="FFFFFF"/>
                </a:solidFill>
                <a:latin typeface="Aptos"/>
              </a:defRPr>
            </a:pPr>
            <a:r>
              <a:t>Customer complaint classification using Qwen2.5:3B + Ollama</a:t>
            </a:r>
          </a:p>
        </p:txBody>
      </p:sp>
      <p:sp>
        <p:nvSpPr>
          <p:cNvPr id="6" name="TextBox 5"/>
          <p:cNvSpPr txBox="1"/>
          <p:nvPr/>
        </p:nvSpPr>
        <p:spPr>
          <a:xfrm>
            <a:off x="1005840" y="4754880"/>
            <a:ext cx="9875520" cy="1005840"/>
          </a:xfrm>
          <a:prstGeom prst="rect">
            <a:avLst/>
          </a:prstGeom>
          <a:noFill/>
        </p:spPr>
        <p:txBody>
          <a:bodyPr wrap="square" lIns="64008" rIns="64008" anchor="t">
            <a:spAutoFit/>
          </a:bodyPr>
          <a:lstStyle/>
          <a:p>
            <a:pPr>
              <a:spcAft>
                <a:spcPts val="700"/>
              </a:spcAft>
              <a:defRPr sz="1600" b="0">
                <a:solidFill>
                  <a:srgbClr val="FFFFFF"/>
                </a:solidFill>
                <a:latin typeface="Aptos"/>
              </a:defRPr>
            </a:pPr>
            <a:r>
              <a:rPr dirty="0"/>
              <a:t>Group</a:t>
            </a:r>
            <a:r>
              <a:rPr lang="en-IN" dirty="0"/>
              <a:t>            </a:t>
            </a:r>
            <a:r>
              <a:rPr dirty="0"/>
              <a:t>:</a:t>
            </a:r>
            <a:r>
              <a:rPr lang="en-IN" dirty="0"/>
              <a:t>   07</a:t>
            </a:r>
          </a:p>
          <a:p>
            <a:pPr>
              <a:spcAft>
                <a:spcPts val="700"/>
              </a:spcAft>
              <a:defRPr sz="1600" b="0">
                <a:solidFill>
                  <a:srgbClr val="FFFFFF"/>
                </a:solidFill>
                <a:latin typeface="Aptos"/>
              </a:defRPr>
            </a:pPr>
            <a:r>
              <a:rPr lang="en-IN" dirty="0"/>
              <a:t>Presenter(s):  Anzar Eqbal(MT/AI/10002/26), Md Sartaj Hussain(MT/AI/10018/26)</a:t>
            </a:r>
          </a:p>
          <a:p>
            <a:pPr>
              <a:spcAft>
                <a:spcPts val="700"/>
              </a:spcAft>
              <a:defRPr sz="1600" b="0">
                <a:solidFill>
                  <a:srgbClr val="FFFFFF"/>
                </a:solidFill>
                <a:latin typeface="Aptos"/>
              </a:defRPr>
            </a:pPr>
            <a:r>
              <a:rPr dirty="0"/>
              <a:t>Institute: BIT </a:t>
            </a:r>
            <a:r>
              <a:rPr dirty="0" err="1"/>
              <a:t>Mesra</a:t>
            </a:r>
            <a:r>
              <a:rPr dirty="0"/>
              <a:t>  |  Program: </a:t>
            </a:r>
            <a:r>
              <a:rPr dirty="0" err="1"/>
              <a:t>M.Tech</a:t>
            </a:r>
            <a:r>
              <a:rPr lang="en-IN" dirty="0"/>
              <a:t>(AI&amp;ML)</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52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91440"/>
            <a:ext cx="10881360" cy="438912"/>
          </a:xfrm>
          <a:prstGeom prst="rect">
            <a:avLst/>
          </a:prstGeom>
          <a:noFill/>
        </p:spPr>
        <p:txBody>
          <a:bodyPr wrap="square" lIns="64008" rIns="64008" anchor="ctr">
            <a:spAutoFit/>
          </a:bodyPr>
          <a:lstStyle/>
          <a:p>
            <a:pPr>
              <a:spcAft>
                <a:spcPts val="700"/>
              </a:spcAft>
              <a:defRPr sz="2400" b="1">
                <a:solidFill>
                  <a:srgbClr val="FFFFFF"/>
                </a:solidFill>
                <a:latin typeface="Aptos"/>
              </a:defRPr>
            </a:pPr>
            <a:r>
              <a:t>1. Real-World Problem</a:t>
            </a:r>
          </a:p>
        </p:txBody>
      </p:sp>
      <p:sp>
        <p:nvSpPr>
          <p:cNvPr id="4" name="TextBox 3"/>
          <p:cNvSpPr txBox="1"/>
          <p:nvPr/>
        </p:nvSpPr>
        <p:spPr>
          <a:xfrm>
            <a:off x="11356848" y="137160"/>
            <a:ext cx="411480" cy="292608"/>
          </a:xfrm>
          <a:prstGeom prst="rect">
            <a:avLst/>
          </a:prstGeom>
          <a:noFill/>
        </p:spPr>
        <p:txBody>
          <a:bodyPr wrap="square" lIns="64008" rIns="64008" anchor="t">
            <a:spAutoFit/>
          </a:bodyPr>
          <a:lstStyle/>
          <a:p>
            <a:pPr algn="r">
              <a:spcAft>
                <a:spcPts val="700"/>
              </a:spcAft>
              <a:defRPr sz="1300" b="1">
                <a:solidFill>
                  <a:srgbClr val="FFFFFF"/>
                </a:solidFill>
                <a:latin typeface="Aptos"/>
              </a:defRPr>
            </a:pPr>
            <a:r>
              <a:t>02</a:t>
            </a:r>
          </a:p>
        </p:txBody>
      </p:sp>
      <p:sp>
        <p:nvSpPr>
          <p:cNvPr id="6" name="TextBox 5"/>
          <p:cNvSpPr txBox="1"/>
          <p:nvPr/>
        </p:nvSpPr>
        <p:spPr>
          <a:xfrm>
            <a:off x="685800" y="960120"/>
            <a:ext cx="10789920" cy="502920"/>
          </a:xfrm>
          <a:prstGeom prst="rect">
            <a:avLst/>
          </a:prstGeom>
          <a:noFill/>
        </p:spPr>
        <p:txBody>
          <a:bodyPr wrap="square" lIns="64008" rIns="64008" anchor="t">
            <a:spAutoFit/>
          </a:bodyPr>
          <a:lstStyle/>
          <a:p>
            <a:pPr>
              <a:spcAft>
                <a:spcPts val="700"/>
              </a:spcAft>
              <a:defRPr sz="2200" b="1">
                <a:solidFill>
                  <a:srgbClr val="152A4B"/>
                </a:solidFill>
                <a:latin typeface="Aptos"/>
              </a:defRPr>
            </a:pPr>
            <a:r>
              <a:t>Customer-support teams receive large volumes of messages every day.</a:t>
            </a:r>
          </a:p>
        </p:txBody>
      </p:sp>
      <p:sp>
        <p:nvSpPr>
          <p:cNvPr id="7" name="Rounded Rectangle 6"/>
          <p:cNvSpPr/>
          <p:nvPr/>
        </p:nvSpPr>
        <p:spPr>
          <a:xfrm>
            <a:off x="685800" y="1920240"/>
            <a:ext cx="2331720" cy="1143000"/>
          </a:xfrm>
          <a:prstGeom prst="roundRect">
            <a:avLst/>
          </a:prstGeom>
          <a:solidFill>
            <a:srgbClr val="EFF5FB"/>
          </a:solidFill>
          <a:ln>
            <a:solidFill>
              <a:srgbClr val="2A7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95528" y="2148840"/>
            <a:ext cx="2103120" cy="640080"/>
          </a:xfrm>
          <a:prstGeom prst="rect">
            <a:avLst/>
          </a:prstGeom>
          <a:noFill/>
        </p:spPr>
        <p:txBody>
          <a:bodyPr wrap="square" lIns="64008" rIns="64008" anchor="t">
            <a:spAutoFit/>
          </a:bodyPr>
          <a:lstStyle/>
          <a:p>
            <a:pPr algn="ctr">
              <a:spcAft>
                <a:spcPts val="700"/>
              </a:spcAft>
              <a:defRPr sz="2000" b="1">
                <a:solidFill>
                  <a:srgbClr val="2A70B0"/>
                </a:solidFill>
                <a:latin typeface="Aptos"/>
              </a:defRPr>
            </a:pPr>
            <a:r>
              <a:t>Customer</a:t>
            </a:r>
          </a:p>
          <a:p>
            <a:pPr algn="ctr">
              <a:spcAft>
                <a:spcPts val="700"/>
              </a:spcAft>
              <a:defRPr sz="2000" b="1">
                <a:solidFill>
                  <a:srgbClr val="2A70B0"/>
                </a:solidFill>
                <a:latin typeface="Aptos"/>
              </a:defRPr>
            </a:pPr>
            <a:r>
              <a:t>complaint</a:t>
            </a:r>
          </a:p>
        </p:txBody>
      </p:sp>
      <p:sp>
        <p:nvSpPr>
          <p:cNvPr id="9" name="Rounded Rectangle 8"/>
          <p:cNvSpPr/>
          <p:nvPr/>
        </p:nvSpPr>
        <p:spPr>
          <a:xfrm>
            <a:off x="4160520" y="1920240"/>
            <a:ext cx="2331720" cy="1143000"/>
          </a:xfrm>
          <a:prstGeom prst="roundRect">
            <a:avLst/>
          </a:prstGeom>
          <a:solidFill>
            <a:srgbClr val="EFF5FB"/>
          </a:solidFill>
          <a:ln>
            <a:solidFill>
              <a:srgbClr val="007D8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270248" y="2148840"/>
            <a:ext cx="2103120" cy="640080"/>
          </a:xfrm>
          <a:prstGeom prst="rect">
            <a:avLst/>
          </a:prstGeom>
          <a:noFill/>
        </p:spPr>
        <p:txBody>
          <a:bodyPr wrap="square" lIns="64008" rIns="64008" anchor="t">
            <a:spAutoFit/>
          </a:bodyPr>
          <a:lstStyle/>
          <a:p>
            <a:pPr algn="ctr">
              <a:spcAft>
                <a:spcPts val="700"/>
              </a:spcAft>
              <a:defRPr sz="2000" b="1">
                <a:solidFill>
                  <a:srgbClr val="007D82"/>
                </a:solidFill>
                <a:latin typeface="Aptos"/>
              </a:defRPr>
            </a:pPr>
            <a:r>
              <a:t>LLM</a:t>
            </a:r>
          </a:p>
          <a:p>
            <a:pPr algn="ctr">
              <a:spcAft>
                <a:spcPts val="700"/>
              </a:spcAft>
              <a:defRPr sz="2000" b="1">
                <a:solidFill>
                  <a:srgbClr val="007D82"/>
                </a:solidFill>
                <a:latin typeface="Aptos"/>
              </a:defRPr>
            </a:pPr>
            <a:r>
              <a:t>classifier</a:t>
            </a:r>
          </a:p>
        </p:txBody>
      </p:sp>
      <p:sp>
        <p:nvSpPr>
          <p:cNvPr id="11" name="Rounded Rectangle 10"/>
          <p:cNvSpPr/>
          <p:nvPr/>
        </p:nvSpPr>
        <p:spPr>
          <a:xfrm>
            <a:off x="7635240" y="1920240"/>
            <a:ext cx="2331720" cy="1143000"/>
          </a:xfrm>
          <a:prstGeom prst="roundRect">
            <a:avLst/>
          </a:prstGeom>
          <a:solidFill>
            <a:srgbClr val="EFF5FB"/>
          </a:solidFill>
          <a:ln>
            <a:solidFill>
              <a:srgbClr val="E17E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44967" y="2148840"/>
            <a:ext cx="2103120" cy="640080"/>
          </a:xfrm>
          <a:prstGeom prst="rect">
            <a:avLst/>
          </a:prstGeom>
          <a:noFill/>
        </p:spPr>
        <p:txBody>
          <a:bodyPr wrap="square" lIns="64008" rIns="64008" anchor="t">
            <a:spAutoFit/>
          </a:bodyPr>
          <a:lstStyle/>
          <a:p>
            <a:pPr algn="ctr">
              <a:spcAft>
                <a:spcPts val="700"/>
              </a:spcAft>
              <a:defRPr sz="2000" b="1">
                <a:solidFill>
                  <a:srgbClr val="E17E30"/>
                </a:solidFill>
                <a:latin typeface="Aptos"/>
              </a:defRPr>
            </a:pPr>
            <a:r>
              <a:t>Support</a:t>
            </a:r>
          </a:p>
          <a:p>
            <a:pPr algn="ctr">
              <a:spcAft>
                <a:spcPts val="700"/>
              </a:spcAft>
              <a:defRPr sz="2000" b="1">
                <a:solidFill>
                  <a:srgbClr val="E17E30"/>
                </a:solidFill>
                <a:latin typeface="Aptos"/>
              </a:defRPr>
            </a:pPr>
            <a:r>
              <a:t>category</a:t>
            </a:r>
          </a:p>
        </p:txBody>
      </p:sp>
      <p:sp>
        <p:nvSpPr>
          <p:cNvPr id="13" name="TextBox 12"/>
          <p:cNvSpPr txBox="1"/>
          <p:nvPr/>
        </p:nvSpPr>
        <p:spPr>
          <a:xfrm>
            <a:off x="3182112" y="2176272"/>
            <a:ext cx="640080" cy="457200"/>
          </a:xfrm>
          <a:prstGeom prst="rect">
            <a:avLst/>
          </a:prstGeom>
          <a:noFill/>
        </p:spPr>
        <p:txBody>
          <a:bodyPr wrap="square" lIns="64008" rIns="64008" anchor="t">
            <a:spAutoFit/>
          </a:bodyPr>
          <a:lstStyle/>
          <a:p>
            <a:pPr algn="ctr">
              <a:spcAft>
                <a:spcPts val="700"/>
              </a:spcAft>
              <a:defRPr sz="3000" b="1">
                <a:solidFill>
                  <a:srgbClr val="5F6973"/>
                </a:solidFill>
                <a:latin typeface="Aptos"/>
              </a:defRPr>
            </a:pPr>
            <a:r>
              <a:t>→</a:t>
            </a:r>
          </a:p>
        </p:txBody>
      </p:sp>
      <p:sp>
        <p:nvSpPr>
          <p:cNvPr id="14" name="TextBox 13"/>
          <p:cNvSpPr txBox="1"/>
          <p:nvPr/>
        </p:nvSpPr>
        <p:spPr>
          <a:xfrm>
            <a:off x="6656832" y="2176272"/>
            <a:ext cx="640080" cy="457200"/>
          </a:xfrm>
          <a:prstGeom prst="rect">
            <a:avLst/>
          </a:prstGeom>
          <a:noFill/>
        </p:spPr>
        <p:txBody>
          <a:bodyPr wrap="square" lIns="64008" rIns="64008" anchor="t">
            <a:spAutoFit/>
          </a:bodyPr>
          <a:lstStyle/>
          <a:p>
            <a:pPr algn="ctr">
              <a:spcAft>
                <a:spcPts val="700"/>
              </a:spcAft>
              <a:defRPr sz="3000" b="1">
                <a:solidFill>
                  <a:srgbClr val="5F6973"/>
                </a:solidFill>
                <a:latin typeface="Aptos"/>
              </a:defRPr>
            </a:pPr>
            <a:r>
              <a:t>→</a:t>
            </a:r>
          </a:p>
        </p:txBody>
      </p:sp>
      <p:sp>
        <p:nvSpPr>
          <p:cNvPr id="15" name="TextBox 14"/>
          <p:cNvSpPr txBox="1"/>
          <p:nvPr/>
        </p:nvSpPr>
        <p:spPr>
          <a:xfrm>
            <a:off x="822960" y="3657600"/>
            <a:ext cx="10424160" cy="1920240"/>
          </a:xfrm>
          <a:prstGeom prst="rect">
            <a:avLst/>
          </a:prstGeom>
          <a:noFill/>
        </p:spPr>
        <p:txBody>
          <a:bodyPr wrap="square" rIns="73152">
            <a:spAutoFit/>
          </a:bodyPr>
          <a:lstStyle/>
          <a:p>
            <a:pPr>
              <a:spcAft>
                <a:spcPts val="800"/>
              </a:spcAft>
              <a:defRPr sz="1800">
                <a:solidFill>
                  <a:srgbClr val="252D37"/>
                </a:solidFill>
                <a:latin typeface="Aptos"/>
              </a:defRPr>
            </a:pPr>
            <a:r>
              <a:t>• Manual sorting can be slow and inconsistent.</a:t>
            </a:r>
          </a:p>
          <a:p>
            <a:pPr>
              <a:spcAft>
                <a:spcPts val="800"/>
              </a:spcAft>
              <a:defRPr sz="1800">
                <a:solidFill>
                  <a:srgbClr val="252D37"/>
                </a:solidFill>
                <a:latin typeface="Aptos"/>
              </a:defRPr>
            </a:pPr>
            <a:r>
              <a:t>• Incorrect routing delays refunds, technical support, deliveries, or account recovery.</a:t>
            </a:r>
          </a:p>
          <a:p>
            <a:pPr>
              <a:spcAft>
                <a:spcPts val="800"/>
              </a:spcAft>
              <a:defRPr sz="1800">
                <a:solidFill>
                  <a:srgbClr val="252D37"/>
                </a:solidFill>
                <a:latin typeface="Aptos"/>
              </a:defRPr>
            </a:pPr>
            <a:r>
              <a:t>• Automatic classification can help route messages to the right team.</a:t>
            </a:r>
          </a:p>
          <a:p>
            <a:pPr>
              <a:spcAft>
                <a:spcPts val="800"/>
              </a:spcAft>
              <a:defRPr sz="1800">
                <a:solidFill>
                  <a:srgbClr val="252D37"/>
                </a:solidFill>
                <a:latin typeface="Aptos"/>
              </a:defRPr>
            </a:pPr>
            <a:r>
              <a:t>• Model decisions may depend on how instructions and examples are written.</a:t>
            </a:r>
          </a:p>
        </p:txBody>
      </p:sp>
      <p:sp>
        <p:nvSpPr>
          <p:cNvPr id="16" name="Rounded Rectangle 15"/>
          <p:cNvSpPr/>
          <p:nvPr/>
        </p:nvSpPr>
        <p:spPr>
          <a:xfrm>
            <a:off x="822960" y="5806440"/>
            <a:ext cx="10515600" cy="502920"/>
          </a:xfrm>
          <a:prstGeom prst="roundRect">
            <a:avLst/>
          </a:prstGeom>
          <a:solidFill>
            <a:srgbClr val="EFF5FB"/>
          </a:solidFill>
          <a:ln>
            <a:solidFill>
              <a:srgbClr val="2A7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50976" y="5870448"/>
            <a:ext cx="10259568" cy="384048"/>
          </a:xfrm>
          <a:prstGeom prst="rect">
            <a:avLst/>
          </a:prstGeom>
          <a:noFill/>
        </p:spPr>
        <p:txBody>
          <a:bodyPr wrap="square" lIns="64008" rIns="64008" anchor="t">
            <a:spAutoFit/>
          </a:bodyPr>
          <a:lstStyle/>
          <a:p>
            <a:pPr>
              <a:spcAft>
                <a:spcPts val="700"/>
              </a:spcAft>
              <a:defRPr sz="1500" b="0">
                <a:solidFill>
                  <a:srgbClr val="252D37"/>
                </a:solidFill>
                <a:latin typeface="Aptos"/>
              </a:defRPr>
            </a:pPr>
            <a:r>
              <a:t>Motivation: test whether prompt examples improve or harm category decisions.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52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91440"/>
            <a:ext cx="10881360" cy="438912"/>
          </a:xfrm>
          <a:prstGeom prst="rect">
            <a:avLst/>
          </a:prstGeom>
          <a:noFill/>
        </p:spPr>
        <p:txBody>
          <a:bodyPr wrap="square" lIns="64008" rIns="64008" anchor="ctr">
            <a:spAutoFit/>
          </a:bodyPr>
          <a:lstStyle/>
          <a:p>
            <a:pPr>
              <a:spcAft>
                <a:spcPts val="700"/>
              </a:spcAft>
              <a:defRPr sz="2400" b="1">
                <a:solidFill>
                  <a:srgbClr val="FFFFFF"/>
                </a:solidFill>
                <a:latin typeface="Aptos"/>
              </a:defRPr>
            </a:pPr>
            <a:r>
              <a:t>2. Research Question &amp; Hypothesis</a:t>
            </a:r>
          </a:p>
        </p:txBody>
      </p:sp>
      <p:sp>
        <p:nvSpPr>
          <p:cNvPr id="4" name="TextBox 3"/>
          <p:cNvSpPr txBox="1"/>
          <p:nvPr/>
        </p:nvSpPr>
        <p:spPr>
          <a:xfrm>
            <a:off x="11356848" y="137160"/>
            <a:ext cx="411480" cy="292608"/>
          </a:xfrm>
          <a:prstGeom prst="rect">
            <a:avLst/>
          </a:prstGeom>
          <a:noFill/>
        </p:spPr>
        <p:txBody>
          <a:bodyPr wrap="square" lIns="64008" rIns="64008" anchor="t">
            <a:spAutoFit/>
          </a:bodyPr>
          <a:lstStyle/>
          <a:p>
            <a:pPr algn="r">
              <a:spcAft>
                <a:spcPts val="700"/>
              </a:spcAft>
              <a:defRPr sz="1300" b="1">
                <a:solidFill>
                  <a:srgbClr val="FFFFFF"/>
                </a:solidFill>
                <a:latin typeface="Aptos"/>
              </a:defRPr>
            </a:pPr>
            <a:r>
              <a:t>03</a:t>
            </a:r>
          </a:p>
        </p:txBody>
      </p:sp>
      <p:sp>
        <p:nvSpPr>
          <p:cNvPr id="6" name="TextBox 5"/>
          <p:cNvSpPr txBox="1"/>
          <p:nvPr/>
        </p:nvSpPr>
        <p:spPr>
          <a:xfrm>
            <a:off x="731520" y="1097280"/>
            <a:ext cx="2743200" cy="411480"/>
          </a:xfrm>
          <a:prstGeom prst="rect">
            <a:avLst/>
          </a:prstGeom>
          <a:noFill/>
        </p:spPr>
        <p:txBody>
          <a:bodyPr wrap="square" lIns="64008" rIns="64008" anchor="t">
            <a:spAutoFit/>
          </a:bodyPr>
          <a:lstStyle/>
          <a:p>
            <a:pPr>
              <a:spcAft>
                <a:spcPts val="700"/>
              </a:spcAft>
              <a:defRPr sz="2200" b="1">
                <a:solidFill>
                  <a:srgbClr val="2A70B0"/>
                </a:solidFill>
                <a:latin typeface="Aptos"/>
              </a:defRPr>
            </a:pPr>
            <a:r>
              <a:t>Research question</a:t>
            </a:r>
          </a:p>
        </p:txBody>
      </p:sp>
      <p:sp>
        <p:nvSpPr>
          <p:cNvPr id="7" name="TextBox 6"/>
          <p:cNvSpPr txBox="1"/>
          <p:nvPr/>
        </p:nvSpPr>
        <p:spPr>
          <a:xfrm>
            <a:off x="731520" y="1572768"/>
            <a:ext cx="10607040" cy="822960"/>
          </a:xfrm>
          <a:prstGeom prst="rect">
            <a:avLst/>
          </a:prstGeom>
          <a:noFill/>
        </p:spPr>
        <p:txBody>
          <a:bodyPr wrap="square" lIns="64008" rIns="64008" anchor="t">
            <a:spAutoFit/>
          </a:bodyPr>
          <a:lstStyle/>
          <a:p>
            <a:pPr>
              <a:spcAft>
                <a:spcPts val="700"/>
              </a:spcAft>
              <a:defRPr sz="2200" b="0">
                <a:solidFill>
                  <a:srgbClr val="252D37"/>
                </a:solidFill>
                <a:latin typeface="Aptos"/>
              </a:defRPr>
            </a:pPr>
            <a:r>
              <a:t>How do zero-shot, good few-shot, and deliberately poor few-shot prompts affect complaint-classification performance?</a:t>
            </a:r>
          </a:p>
        </p:txBody>
      </p:sp>
      <p:sp>
        <p:nvSpPr>
          <p:cNvPr id="8" name="TextBox 7"/>
          <p:cNvSpPr txBox="1"/>
          <p:nvPr/>
        </p:nvSpPr>
        <p:spPr>
          <a:xfrm>
            <a:off x="731520" y="2743200"/>
            <a:ext cx="2286000" cy="411480"/>
          </a:xfrm>
          <a:prstGeom prst="rect">
            <a:avLst/>
          </a:prstGeom>
          <a:noFill/>
        </p:spPr>
        <p:txBody>
          <a:bodyPr wrap="square" lIns="64008" rIns="64008" anchor="t">
            <a:spAutoFit/>
          </a:bodyPr>
          <a:lstStyle/>
          <a:p>
            <a:pPr>
              <a:spcAft>
                <a:spcPts val="700"/>
              </a:spcAft>
              <a:defRPr sz="2200" b="1">
                <a:solidFill>
                  <a:srgbClr val="2A70B0"/>
                </a:solidFill>
                <a:latin typeface="Aptos"/>
              </a:defRPr>
            </a:pPr>
            <a:r>
              <a:t>Hypotheses</a:t>
            </a:r>
          </a:p>
        </p:txBody>
      </p:sp>
      <p:sp>
        <p:nvSpPr>
          <p:cNvPr id="9" name="TextBox 8"/>
          <p:cNvSpPr txBox="1"/>
          <p:nvPr/>
        </p:nvSpPr>
        <p:spPr>
          <a:xfrm>
            <a:off x="822960" y="3246120"/>
            <a:ext cx="10424160" cy="1920240"/>
          </a:xfrm>
          <a:prstGeom prst="rect">
            <a:avLst/>
          </a:prstGeom>
          <a:noFill/>
        </p:spPr>
        <p:txBody>
          <a:bodyPr wrap="square" rIns="73152">
            <a:spAutoFit/>
          </a:bodyPr>
          <a:lstStyle/>
          <a:p>
            <a:pPr>
              <a:spcAft>
                <a:spcPts val="1100"/>
              </a:spcAft>
              <a:defRPr sz="1900">
                <a:solidFill>
                  <a:srgbClr val="252D37"/>
                </a:solidFill>
                <a:latin typeface="Aptos"/>
              </a:defRPr>
            </a:pPr>
            <a:r>
              <a:t>• H1: Correctly labeled examples may guide the model and improve consistency.</a:t>
            </a:r>
          </a:p>
          <a:p>
            <a:pPr>
              <a:spcAft>
                <a:spcPts val="1100"/>
              </a:spcAft>
              <a:defRPr sz="1900">
                <a:solidFill>
                  <a:srgbClr val="252D37"/>
                </a:solidFill>
                <a:latin typeface="Aptos"/>
              </a:defRPr>
            </a:pPr>
            <a:r>
              <a:t>• H2: Incorrectly labeled examples may confuse the model and reduce performance.</a:t>
            </a:r>
          </a:p>
          <a:p>
            <a:pPr>
              <a:spcAft>
                <a:spcPts val="1100"/>
              </a:spcAft>
              <a:defRPr sz="1900">
                <a:solidFill>
                  <a:srgbClr val="252D37"/>
                </a:solidFill>
                <a:latin typeface="Aptos"/>
              </a:defRPr>
            </a:pPr>
            <a:r>
              <a:t>• H3: Clear category definitions may let zero-shot perform similarly to good few-shot.</a:t>
            </a:r>
          </a:p>
        </p:txBody>
      </p:sp>
      <p:sp>
        <p:nvSpPr>
          <p:cNvPr id="10" name="Rounded Rectangle 9"/>
          <p:cNvSpPr/>
          <p:nvPr/>
        </p:nvSpPr>
        <p:spPr>
          <a:xfrm>
            <a:off x="822960" y="5623560"/>
            <a:ext cx="10515600" cy="594360"/>
          </a:xfrm>
          <a:prstGeom prst="roundRect">
            <a:avLst/>
          </a:prstGeom>
          <a:solidFill>
            <a:srgbClr val="FFF6E8"/>
          </a:solidFill>
          <a:ln>
            <a:solidFill>
              <a:srgbClr val="E17E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50976" y="5687568"/>
            <a:ext cx="10259568" cy="475488"/>
          </a:xfrm>
          <a:prstGeom prst="rect">
            <a:avLst/>
          </a:prstGeom>
          <a:noFill/>
        </p:spPr>
        <p:txBody>
          <a:bodyPr wrap="square" lIns="64008" rIns="64008" anchor="t">
            <a:spAutoFit/>
          </a:bodyPr>
          <a:lstStyle/>
          <a:p>
            <a:pPr>
              <a:spcAft>
                <a:spcPts val="700"/>
              </a:spcAft>
              <a:defRPr sz="1600" b="0">
                <a:solidFill>
                  <a:srgbClr val="252D37"/>
                </a:solidFill>
                <a:latin typeface="Aptos"/>
              </a:defRPr>
            </a:pPr>
            <a:r>
              <a:t>These are hypotheses to test—not results to assume in advance.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52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91440"/>
            <a:ext cx="10881360" cy="438912"/>
          </a:xfrm>
          <a:prstGeom prst="rect">
            <a:avLst/>
          </a:prstGeom>
          <a:noFill/>
        </p:spPr>
        <p:txBody>
          <a:bodyPr wrap="square" lIns="64008" rIns="64008" anchor="ctr">
            <a:spAutoFit/>
          </a:bodyPr>
          <a:lstStyle/>
          <a:p>
            <a:pPr>
              <a:spcAft>
                <a:spcPts val="700"/>
              </a:spcAft>
              <a:defRPr sz="2400" b="1">
                <a:solidFill>
                  <a:srgbClr val="FFFFFF"/>
                </a:solidFill>
                <a:latin typeface="Aptos"/>
              </a:defRPr>
            </a:pPr>
            <a:r>
              <a:t>3. Dataset Description</a:t>
            </a:r>
          </a:p>
        </p:txBody>
      </p:sp>
      <p:sp>
        <p:nvSpPr>
          <p:cNvPr id="4" name="TextBox 3"/>
          <p:cNvSpPr txBox="1"/>
          <p:nvPr/>
        </p:nvSpPr>
        <p:spPr>
          <a:xfrm>
            <a:off x="11356848" y="137160"/>
            <a:ext cx="411480" cy="292608"/>
          </a:xfrm>
          <a:prstGeom prst="rect">
            <a:avLst/>
          </a:prstGeom>
          <a:noFill/>
        </p:spPr>
        <p:txBody>
          <a:bodyPr wrap="square" lIns="64008" rIns="64008" anchor="t">
            <a:spAutoFit/>
          </a:bodyPr>
          <a:lstStyle/>
          <a:p>
            <a:pPr algn="r">
              <a:spcAft>
                <a:spcPts val="700"/>
              </a:spcAft>
              <a:defRPr sz="1300" b="1">
                <a:solidFill>
                  <a:srgbClr val="FFFFFF"/>
                </a:solidFill>
                <a:latin typeface="Aptos"/>
              </a:defRPr>
            </a:pPr>
            <a:r>
              <a:t>04</a:t>
            </a:r>
          </a:p>
        </p:txBody>
      </p:sp>
      <p:sp>
        <p:nvSpPr>
          <p:cNvPr id="6" name="Rounded Rectangle 5"/>
          <p:cNvSpPr/>
          <p:nvPr/>
        </p:nvSpPr>
        <p:spPr>
          <a:xfrm>
            <a:off x="685800" y="1234440"/>
            <a:ext cx="2514600" cy="1143000"/>
          </a:xfrm>
          <a:prstGeom prst="roundRect">
            <a:avLst/>
          </a:prstGeom>
          <a:solidFill>
            <a:srgbClr val="EFF5FB"/>
          </a:solidFill>
          <a:ln>
            <a:solidFill>
              <a:srgbClr val="2A7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389888"/>
            <a:ext cx="2331720" cy="384048"/>
          </a:xfrm>
          <a:prstGeom prst="rect">
            <a:avLst/>
          </a:prstGeom>
          <a:noFill/>
        </p:spPr>
        <p:txBody>
          <a:bodyPr wrap="square" lIns="64008" rIns="64008" anchor="t">
            <a:spAutoFit/>
          </a:bodyPr>
          <a:lstStyle/>
          <a:p>
            <a:pPr algn="ctr">
              <a:spcAft>
                <a:spcPts val="700"/>
              </a:spcAft>
              <a:defRPr sz="2500" b="1">
                <a:solidFill>
                  <a:srgbClr val="2A70B0"/>
                </a:solidFill>
                <a:latin typeface="Aptos"/>
              </a:defRPr>
            </a:pPr>
            <a:r>
              <a:t>1,000</a:t>
            </a:r>
          </a:p>
        </p:txBody>
      </p:sp>
      <p:sp>
        <p:nvSpPr>
          <p:cNvPr id="8" name="TextBox 7"/>
          <p:cNvSpPr txBox="1"/>
          <p:nvPr/>
        </p:nvSpPr>
        <p:spPr>
          <a:xfrm>
            <a:off x="777240" y="1874519"/>
            <a:ext cx="2331720" cy="274320"/>
          </a:xfrm>
          <a:prstGeom prst="rect">
            <a:avLst/>
          </a:prstGeom>
          <a:noFill/>
        </p:spPr>
        <p:txBody>
          <a:bodyPr wrap="square" lIns="64008" rIns="64008" anchor="t">
            <a:spAutoFit/>
          </a:bodyPr>
          <a:lstStyle/>
          <a:p>
            <a:pPr algn="ctr">
              <a:spcAft>
                <a:spcPts val="700"/>
              </a:spcAft>
              <a:defRPr sz="1300" b="0">
                <a:solidFill>
                  <a:srgbClr val="252D37"/>
                </a:solidFill>
                <a:latin typeface="Aptos"/>
              </a:defRPr>
            </a:pPr>
            <a:r>
              <a:t>generated complaints</a:t>
            </a:r>
          </a:p>
        </p:txBody>
      </p:sp>
      <p:sp>
        <p:nvSpPr>
          <p:cNvPr id="9" name="Rounded Rectangle 8"/>
          <p:cNvSpPr/>
          <p:nvPr/>
        </p:nvSpPr>
        <p:spPr>
          <a:xfrm>
            <a:off x="3520440" y="1234440"/>
            <a:ext cx="2514600" cy="1143000"/>
          </a:xfrm>
          <a:prstGeom prst="roundRect">
            <a:avLst/>
          </a:prstGeom>
          <a:solidFill>
            <a:srgbClr val="EFF5FB"/>
          </a:solidFill>
          <a:ln>
            <a:solidFill>
              <a:srgbClr val="007D8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11880" y="1389888"/>
            <a:ext cx="2331720" cy="384048"/>
          </a:xfrm>
          <a:prstGeom prst="rect">
            <a:avLst/>
          </a:prstGeom>
          <a:noFill/>
        </p:spPr>
        <p:txBody>
          <a:bodyPr wrap="square" lIns="64008" rIns="64008" anchor="t">
            <a:spAutoFit/>
          </a:bodyPr>
          <a:lstStyle/>
          <a:p>
            <a:pPr algn="ctr">
              <a:spcAft>
                <a:spcPts val="700"/>
              </a:spcAft>
              <a:defRPr sz="2500" b="1">
                <a:solidFill>
                  <a:srgbClr val="007D82"/>
                </a:solidFill>
                <a:latin typeface="Aptos"/>
              </a:defRPr>
            </a:pPr>
            <a:r>
              <a:t>4</a:t>
            </a:r>
          </a:p>
        </p:txBody>
      </p:sp>
      <p:sp>
        <p:nvSpPr>
          <p:cNvPr id="11" name="TextBox 10"/>
          <p:cNvSpPr txBox="1"/>
          <p:nvPr/>
        </p:nvSpPr>
        <p:spPr>
          <a:xfrm>
            <a:off x="3611880" y="1874519"/>
            <a:ext cx="2331720" cy="274320"/>
          </a:xfrm>
          <a:prstGeom prst="rect">
            <a:avLst/>
          </a:prstGeom>
          <a:noFill/>
        </p:spPr>
        <p:txBody>
          <a:bodyPr wrap="square" lIns="64008" rIns="64008" anchor="t">
            <a:spAutoFit/>
          </a:bodyPr>
          <a:lstStyle/>
          <a:p>
            <a:pPr algn="ctr">
              <a:spcAft>
                <a:spcPts val="700"/>
              </a:spcAft>
              <a:defRPr sz="1300" b="0">
                <a:solidFill>
                  <a:srgbClr val="252D37"/>
                </a:solidFill>
                <a:latin typeface="Aptos"/>
              </a:defRPr>
            </a:pPr>
            <a:r>
              <a:t>categories</a:t>
            </a:r>
          </a:p>
        </p:txBody>
      </p:sp>
      <p:sp>
        <p:nvSpPr>
          <p:cNvPr id="12" name="Rounded Rectangle 11"/>
          <p:cNvSpPr/>
          <p:nvPr/>
        </p:nvSpPr>
        <p:spPr>
          <a:xfrm>
            <a:off x="6355080" y="1234440"/>
            <a:ext cx="2514600" cy="1143000"/>
          </a:xfrm>
          <a:prstGeom prst="roundRect">
            <a:avLst/>
          </a:prstGeom>
          <a:solidFill>
            <a:srgbClr val="EFF5FB"/>
          </a:solidFill>
          <a:ln>
            <a:solidFill>
              <a:srgbClr val="E17E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46520" y="1389888"/>
            <a:ext cx="2331720" cy="384048"/>
          </a:xfrm>
          <a:prstGeom prst="rect">
            <a:avLst/>
          </a:prstGeom>
          <a:noFill/>
        </p:spPr>
        <p:txBody>
          <a:bodyPr wrap="square" lIns="64008" rIns="64008" anchor="t">
            <a:spAutoFit/>
          </a:bodyPr>
          <a:lstStyle/>
          <a:p>
            <a:pPr algn="ctr">
              <a:spcAft>
                <a:spcPts val="700"/>
              </a:spcAft>
              <a:defRPr sz="2500" b="1">
                <a:solidFill>
                  <a:srgbClr val="E17E30"/>
                </a:solidFill>
                <a:latin typeface="Aptos"/>
              </a:defRPr>
            </a:pPr>
            <a:r>
              <a:t>750 / 250</a:t>
            </a:r>
          </a:p>
        </p:txBody>
      </p:sp>
      <p:sp>
        <p:nvSpPr>
          <p:cNvPr id="14" name="TextBox 13"/>
          <p:cNvSpPr txBox="1"/>
          <p:nvPr/>
        </p:nvSpPr>
        <p:spPr>
          <a:xfrm>
            <a:off x="6446520" y="1874519"/>
            <a:ext cx="2331720" cy="274320"/>
          </a:xfrm>
          <a:prstGeom prst="rect">
            <a:avLst/>
          </a:prstGeom>
          <a:noFill/>
        </p:spPr>
        <p:txBody>
          <a:bodyPr wrap="square" lIns="64008" rIns="64008" anchor="t">
            <a:spAutoFit/>
          </a:bodyPr>
          <a:lstStyle/>
          <a:p>
            <a:pPr algn="ctr">
              <a:spcAft>
                <a:spcPts val="700"/>
              </a:spcAft>
              <a:defRPr sz="1300" b="0">
                <a:solidFill>
                  <a:srgbClr val="252D37"/>
                </a:solidFill>
                <a:latin typeface="Aptos"/>
              </a:defRPr>
            </a:pPr>
            <a:r>
              <a:t>train / test</a:t>
            </a:r>
          </a:p>
        </p:txBody>
      </p:sp>
      <p:sp>
        <p:nvSpPr>
          <p:cNvPr id="15" name="Rounded Rectangle 14"/>
          <p:cNvSpPr/>
          <p:nvPr/>
        </p:nvSpPr>
        <p:spPr>
          <a:xfrm>
            <a:off x="9189720" y="1234440"/>
            <a:ext cx="2514600" cy="1143000"/>
          </a:xfrm>
          <a:prstGeom prst="roundRect">
            <a:avLst/>
          </a:prstGeom>
          <a:solidFill>
            <a:srgbClr val="EFF5FB"/>
          </a:solidFill>
          <a:ln>
            <a:solidFill>
              <a:srgbClr val="4980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281160" y="1389888"/>
            <a:ext cx="2331720" cy="384048"/>
          </a:xfrm>
          <a:prstGeom prst="rect">
            <a:avLst/>
          </a:prstGeom>
          <a:noFill/>
        </p:spPr>
        <p:txBody>
          <a:bodyPr wrap="square" lIns="64008" rIns="64008" anchor="t">
            <a:spAutoFit/>
          </a:bodyPr>
          <a:lstStyle/>
          <a:p>
            <a:pPr algn="ctr">
              <a:spcAft>
                <a:spcPts val="700"/>
              </a:spcAft>
              <a:defRPr sz="2500" b="1">
                <a:solidFill>
                  <a:srgbClr val="498051"/>
                </a:solidFill>
                <a:latin typeface="Aptos"/>
              </a:defRPr>
            </a:pPr>
            <a:r>
              <a:t>250 each</a:t>
            </a:r>
          </a:p>
        </p:txBody>
      </p:sp>
      <p:sp>
        <p:nvSpPr>
          <p:cNvPr id="17" name="TextBox 16"/>
          <p:cNvSpPr txBox="1"/>
          <p:nvPr/>
        </p:nvSpPr>
        <p:spPr>
          <a:xfrm>
            <a:off x="9281160" y="1874519"/>
            <a:ext cx="2331720" cy="274320"/>
          </a:xfrm>
          <a:prstGeom prst="rect">
            <a:avLst/>
          </a:prstGeom>
          <a:noFill/>
        </p:spPr>
        <p:txBody>
          <a:bodyPr wrap="square" lIns="64008" rIns="64008" anchor="t">
            <a:spAutoFit/>
          </a:bodyPr>
          <a:lstStyle/>
          <a:p>
            <a:pPr algn="ctr">
              <a:spcAft>
                <a:spcPts val="700"/>
              </a:spcAft>
              <a:defRPr sz="1300" b="0">
                <a:solidFill>
                  <a:srgbClr val="252D37"/>
                </a:solidFill>
                <a:latin typeface="Aptos"/>
              </a:defRPr>
            </a:pPr>
            <a:r>
              <a:t>per category</a:t>
            </a:r>
          </a:p>
        </p:txBody>
      </p:sp>
      <p:sp>
        <p:nvSpPr>
          <p:cNvPr id="18" name="TextBox 17"/>
          <p:cNvSpPr txBox="1"/>
          <p:nvPr/>
        </p:nvSpPr>
        <p:spPr>
          <a:xfrm>
            <a:off x="777240" y="2743200"/>
            <a:ext cx="2743200" cy="365760"/>
          </a:xfrm>
          <a:prstGeom prst="rect">
            <a:avLst/>
          </a:prstGeom>
          <a:noFill/>
        </p:spPr>
        <p:txBody>
          <a:bodyPr wrap="square" lIns="64008" rIns="64008" anchor="t">
            <a:spAutoFit/>
          </a:bodyPr>
          <a:lstStyle/>
          <a:p>
            <a:pPr>
              <a:spcAft>
                <a:spcPts val="700"/>
              </a:spcAft>
              <a:defRPr sz="2100" b="1">
                <a:solidFill>
                  <a:srgbClr val="152A4B"/>
                </a:solidFill>
                <a:latin typeface="Aptos"/>
              </a:defRPr>
            </a:pPr>
            <a:r>
              <a:t>Labels and examples</a:t>
            </a:r>
          </a:p>
        </p:txBody>
      </p:sp>
      <p:sp>
        <p:nvSpPr>
          <p:cNvPr id="19" name="TextBox 18"/>
          <p:cNvSpPr txBox="1"/>
          <p:nvPr/>
        </p:nvSpPr>
        <p:spPr>
          <a:xfrm>
            <a:off x="822960" y="3200400"/>
            <a:ext cx="5486400" cy="2194560"/>
          </a:xfrm>
          <a:prstGeom prst="rect">
            <a:avLst/>
          </a:prstGeom>
          <a:noFill/>
        </p:spPr>
        <p:txBody>
          <a:bodyPr wrap="square" rIns="73152">
            <a:spAutoFit/>
          </a:bodyPr>
          <a:lstStyle/>
          <a:p>
            <a:pPr>
              <a:spcAft>
                <a:spcPts val="800"/>
              </a:spcAft>
              <a:defRPr sz="1700">
                <a:solidFill>
                  <a:srgbClr val="252D37"/>
                </a:solidFill>
                <a:latin typeface="Aptos"/>
              </a:defRPr>
            </a:pPr>
            <a:r>
              <a:t>• Billing — charges, invoices, payments, refunds</a:t>
            </a:r>
          </a:p>
          <a:p>
            <a:pPr>
              <a:spcAft>
                <a:spcPts val="800"/>
              </a:spcAft>
              <a:defRPr sz="1700">
                <a:solidFill>
                  <a:srgbClr val="252D37"/>
                </a:solidFill>
                <a:latin typeface="Aptos"/>
              </a:defRPr>
            </a:pPr>
            <a:r>
              <a:t>• Technical — software bugs, crashes, website errors</a:t>
            </a:r>
          </a:p>
          <a:p>
            <a:pPr>
              <a:spcAft>
                <a:spcPts val="800"/>
              </a:spcAft>
              <a:defRPr sz="1700">
                <a:solidFill>
                  <a:srgbClr val="252D37"/>
                </a:solidFill>
                <a:latin typeface="Aptos"/>
              </a:defRPr>
            </a:pPr>
            <a:r>
              <a:t>• Delivery — shipping, tracking, parcel problems</a:t>
            </a:r>
          </a:p>
          <a:p>
            <a:pPr>
              <a:spcAft>
                <a:spcPts val="800"/>
              </a:spcAft>
              <a:defRPr sz="1700">
                <a:solidFill>
                  <a:srgbClr val="252D37"/>
                </a:solidFill>
                <a:latin typeface="Aptos"/>
              </a:defRPr>
            </a:pPr>
            <a:r>
              <a:t>• Account — login, password, profile, access</a:t>
            </a:r>
          </a:p>
        </p:txBody>
      </p:sp>
      <p:sp>
        <p:nvSpPr>
          <p:cNvPr id="20" name="TextBox 19"/>
          <p:cNvSpPr txBox="1"/>
          <p:nvPr/>
        </p:nvSpPr>
        <p:spPr>
          <a:xfrm>
            <a:off x="6492240" y="2743200"/>
            <a:ext cx="2743200" cy="365760"/>
          </a:xfrm>
          <a:prstGeom prst="rect">
            <a:avLst/>
          </a:prstGeom>
          <a:noFill/>
        </p:spPr>
        <p:txBody>
          <a:bodyPr wrap="square" lIns="64008" rIns="64008" anchor="t">
            <a:spAutoFit/>
          </a:bodyPr>
          <a:lstStyle/>
          <a:p>
            <a:pPr>
              <a:spcAft>
                <a:spcPts val="700"/>
              </a:spcAft>
              <a:defRPr sz="2100" b="1">
                <a:solidFill>
                  <a:srgbClr val="152A4B"/>
                </a:solidFill>
                <a:latin typeface="Aptos"/>
              </a:defRPr>
            </a:pPr>
            <a:r>
              <a:t>Data generation</a:t>
            </a:r>
          </a:p>
        </p:txBody>
      </p:sp>
      <p:sp>
        <p:nvSpPr>
          <p:cNvPr id="21" name="TextBox 20"/>
          <p:cNvSpPr txBox="1"/>
          <p:nvPr/>
        </p:nvSpPr>
        <p:spPr>
          <a:xfrm>
            <a:off x="6537960" y="3200400"/>
            <a:ext cx="4846320" cy="2194560"/>
          </a:xfrm>
          <a:prstGeom prst="rect">
            <a:avLst/>
          </a:prstGeom>
          <a:noFill/>
        </p:spPr>
        <p:txBody>
          <a:bodyPr wrap="square" rIns="73152">
            <a:spAutoFit/>
          </a:bodyPr>
          <a:lstStyle/>
          <a:p>
            <a:pPr>
              <a:spcAft>
                <a:spcPts val="800"/>
              </a:spcAft>
              <a:defRPr sz="1700">
                <a:solidFill>
                  <a:srgbClr val="252D37"/>
                </a:solidFill>
                <a:latin typeface="Aptos"/>
              </a:defRPr>
            </a:pPr>
            <a:r>
              <a:t>• 25 base descriptions per category</a:t>
            </a:r>
          </a:p>
          <a:p>
            <a:pPr>
              <a:spcAft>
                <a:spcPts val="800"/>
              </a:spcAft>
              <a:defRPr sz="1700">
                <a:solidFill>
                  <a:srgbClr val="252D37"/>
                </a:solidFill>
                <a:latin typeface="Aptos"/>
              </a:defRPr>
            </a:pPr>
            <a:r>
              <a:t>• 10 sentence patterns per description</a:t>
            </a:r>
          </a:p>
          <a:p>
            <a:pPr>
              <a:spcAft>
                <a:spcPts val="800"/>
              </a:spcAft>
              <a:defRPr sz="1700">
                <a:solidFill>
                  <a:srgbClr val="252D37"/>
                </a:solidFill>
                <a:latin typeface="Aptos"/>
              </a:defRPr>
            </a:pPr>
            <a:r>
              <a:t>• Saved to data/complaints.csv</a:t>
            </a:r>
          </a:p>
          <a:p>
            <a:pPr>
              <a:spcAft>
                <a:spcPts val="800"/>
              </a:spcAft>
              <a:defRPr sz="1700">
                <a:solidFill>
                  <a:srgbClr val="252D37"/>
                </a:solidFill>
                <a:latin typeface="Aptos"/>
              </a:defRPr>
            </a:pPr>
            <a:r>
              <a:t>• Stratified split preserves class proportions</a:t>
            </a:r>
          </a:p>
        </p:txBody>
      </p:sp>
      <p:sp>
        <p:nvSpPr>
          <p:cNvPr id="22" name="Rounded Rectangle 21"/>
          <p:cNvSpPr/>
          <p:nvPr/>
        </p:nvSpPr>
        <p:spPr>
          <a:xfrm>
            <a:off x="777240" y="5806440"/>
            <a:ext cx="10607040" cy="502920"/>
          </a:xfrm>
          <a:prstGeom prst="roundRect">
            <a:avLst/>
          </a:prstGeom>
          <a:solidFill>
            <a:srgbClr val="FFF6E8"/>
          </a:solidFill>
          <a:ln>
            <a:solidFill>
              <a:srgbClr val="E17E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05256" y="5870448"/>
            <a:ext cx="10351008" cy="384048"/>
          </a:xfrm>
          <a:prstGeom prst="rect">
            <a:avLst/>
          </a:prstGeom>
          <a:noFill/>
        </p:spPr>
        <p:txBody>
          <a:bodyPr wrap="square" lIns="64008" rIns="64008" anchor="t">
            <a:spAutoFit/>
          </a:bodyPr>
          <a:lstStyle/>
          <a:p>
            <a:pPr>
              <a:spcAft>
                <a:spcPts val="700"/>
              </a:spcAft>
              <a:defRPr sz="1500" b="0">
                <a:solidFill>
                  <a:srgbClr val="252D37"/>
                </a:solidFill>
                <a:latin typeface="Aptos"/>
              </a:defRPr>
            </a:pPr>
            <a:r>
              <a:t>Limitation: rows are template-generated, not 1,000 independently written real complaints.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52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91440"/>
            <a:ext cx="10881360" cy="438912"/>
          </a:xfrm>
          <a:prstGeom prst="rect">
            <a:avLst/>
          </a:prstGeom>
          <a:noFill/>
        </p:spPr>
        <p:txBody>
          <a:bodyPr wrap="square" lIns="64008" rIns="64008" anchor="ctr">
            <a:spAutoFit/>
          </a:bodyPr>
          <a:lstStyle/>
          <a:p>
            <a:pPr>
              <a:spcAft>
                <a:spcPts val="700"/>
              </a:spcAft>
              <a:defRPr sz="2400" b="1">
                <a:solidFill>
                  <a:srgbClr val="FFFFFF"/>
                </a:solidFill>
                <a:latin typeface="Aptos"/>
              </a:defRPr>
            </a:pPr>
            <a:r>
              <a:t>4. Methodology</a:t>
            </a:r>
          </a:p>
        </p:txBody>
      </p:sp>
      <p:sp>
        <p:nvSpPr>
          <p:cNvPr id="4" name="TextBox 3"/>
          <p:cNvSpPr txBox="1"/>
          <p:nvPr/>
        </p:nvSpPr>
        <p:spPr>
          <a:xfrm>
            <a:off x="11356848" y="137160"/>
            <a:ext cx="411480" cy="292608"/>
          </a:xfrm>
          <a:prstGeom prst="rect">
            <a:avLst/>
          </a:prstGeom>
          <a:noFill/>
        </p:spPr>
        <p:txBody>
          <a:bodyPr wrap="square" lIns="64008" rIns="64008" anchor="t">
            <a:spAutoFit/>
          </a:bodyPr>
          <a:lstStyle/>
          <a:p>
            <a:pPr algn="r">
              <a:spcAft>
                <a:spcPts val="700"/>
              </a:spcAft>
              <a:defRPr sz="1300" b="1">
                <a:solidFill>
                  <a:srgbClr val="FFFFFF"/>
                </a:solidFill>
                <a:latin typeface="Aptos"/>
              </a:defRPr>
            </a:pPr>
            <a:r>
              <a:t>05</a:t>
            </a:r>
          </a:p>
        </p:txBody>
      </p:sp>
      <p:sp>
        <p:nvSpPr>
          <p:cNvPr id="6" name="Rounded Rectangle 5"/>
          <p:cNvSpPr/>
          <p:nvPr/>
        </p:nvSpPr>
        <p:spPr>
          <a:xfrm>
            <a:off x="777240" y="1143000"/>
            <a:ext cx="10652760" cy="1005840"/>
          </a:xfrm>
          <a:prstGeom prst="roundRect">
            <a:avLst/>
          </a:prstGeom>
          <a:solidFill>
            <a:srgbClr val="EFF5FB"/>
          </a:solidFill>
          <a:ln>
            <a:solidFill>
              <a:srgbClr val="2A7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307592"/>
            <a:ext cx="502920" cy="411480"/>
          </a:xfrm>
          <a:prstGeom prst="rect">
            <a:avLst/>
          </a:prstGeom>
          <a:noFill/>
        </p:spPr>
        <p:txBody>
          <a:bodyPr wrap="square" lIns="64008" rIns="64008" anchor="t">
            <a:spAutoFit/>
          </a:bodyPr>
          <a:lstStyle/>
          <a:p>
            <a:pPr algn="ctr">
              <a:spcAft>
                <a:spcPts val="700"/>
              </a:spcAft>
              <a:defRPr sz="2400" b="1">
                <a:solidFill>
                  <a:srgbClr val="2A70B0"/>
                </a:solidFill>
                <a:latin typeface="Aptos"/>
              </a:defRPr>
            </a:pPr>
            <a:r>
              <a:t>A</a:t>
            </a:r>
          </a:p>
        </p:txBody>
      </p:sp>
      <p:sp>
        <p:nvSpPr>
          <p:cNvPr id="8" name="TextBox 7"/>
          <p:cNvSpPr txBox="1"/>
          <p:nvPr/>
        </p:nvSpPr>
        <p:spPr>
          <a:xfrm>
            <a:off x="1645920" y="1280160"/>
            <a:ext cx="2377440" cy="365760"/>
          </a:xfrm>
          <a:prstGeom prst="rect">
            <a:avLst/>
          </a:prstGeom>
          <a:noFill/>
        </p:spPr>
        <p:txBody>
          <a:bodyPr wrap="square" lIns="64008" rIns="64008" anchor="t">
            <a:spAutoFit/>
          </a:bodyPr>
          <a:lstStyle/>
          <a:p>
            <a:pPr>
              <a:spcAft>
                <a:spcPts val="700"/>
              </a:spcAft>
              <a:defRPr sz="1900" b="1">
                <a:solidFill>
                  <a:srgbClr val="2A70B0"/>
                </a:solidFill>
                <a:latin typeface="Aptos"/>
              </a:defRPr>
            </a:pPr>
            <a:r>
              <a:t>Zero-shot</a:t>
            </a:r>
          </a:p>
        </p:txBody>
      </p:sp>
      <p:sp>
        <p:nvSpPr>
          <p:cNvPr id="9" name="TextBox 8"/>
          <p:cNvSpPr txBox="1"/>
          <p:nvPr/>
        </p:nvSpPr>
        <p:spPr>
          <a:xfrm>
            <a:off x="3886200" y="1261872"/>
            <a:ext cx="7178040" cy="621792"/>
          </a:xfrm>
          <a:prstGeom prst="rect">
            <a:avLst/>
          </a:prstGeom>
          <a:noFill/>
        </p:spPr>
        <p:txBody>
          <a:bodyPr wrap="square" lIns="64008" rIns="64008" anchor="t">
            <a:spAutoFit/>
          </a:bodyPr>
          <a:lstStyle/>
          <a:p>
            <a:pPr>
              <a:spcAft>
                <a:spcPts val="700"/>
              </a:spcAft>
              <a:defRPr sz="1700" b="0">
                <a:solidFill>
                  <a:srgbClr val="252D37"/>
                </a:solidFill>
                <a:latin typeface="Aptos"/>
              </a:defRPr>
            </a:pPr>
            <a:r>
              <a:t>Category definitions + test complaint; no labeled demonstrations.</a:t>
            </a:r>
          </a:p>
        </p:txBody>
      </p:sp>
      <p:sp>
        <p:nvSpPr>
          <p:cNvPr id="10" name="Rounded Rectangle 9"/>
          <p:cNvSpPr/>
          <p:nvPr/>
        </p:nvSpPr>
        <p:spPr>
          <a:xfrm>
            <a:off x="777240" y="2468880"/>
            <a:ext cx="10652760" cy="1005840"/>
          </a:xfrm>
          <a:prstGeom prst="roundRect">
            <a:avLst/>
          </a:prstGeom>
          <a:solidFill>
            <a:srgbClr val="EFF5FB"/>
          </a:solidFill>
          <a:ln>
            <a:solidFill>
              <a:srgbClr val="4980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2633472"/>
            <a:ext cx="502920" cy="411480"/>
          </a:xfrm>
          <a:prstGeom prst="rect">
            <a:avLst/>
          </a:prstGeom>
          <a:noFill/>
        </p:spPr>
        <p:txBody>
          <a:bodyPr wrap="square" lIns="64008" rIns="64008" anchor="t">
            <a:spAutoFit/>
          </a:bodyPr>
          <a:lstStyle/>
          <a:p>
            <a:pPr algn="ctr">
              <a:spcAft>
                <a:spcPts val="700"/>
              </a:spcAft>
              <a:defRPr sz="2400" b="1">
                <a:solidFill>
                  <a:srgbClr val="498051"/>
                </a:solidFill>
                <a:latin typeface="Aptos"/>
              </a:defRPr>
            </a:pPr>
            <a:r>
              <a:t>B</a:t>
            </a:r>
          </a:p>
        </p:txBody>
      </p:sp>
      <p:sp>
        <p:nvSpPr>
          <p:cNvPr id="12" name="TextBox 11"/>
          <p:cNvSpPr txBox="1"/>
          <p:nvPr/>
        </p:nvSpPr>
        <p:spPr>
          <a:xfrm>
            <a:off x="1645920" y="2606040"/>
            <a:ext cx="2377440" cy="365760"/>
          </a:xfrm>
          <a:prstGeom prst="rect">
            <a:avLst/>
          </a:prstGeom>
          <a:noFill/>
        </p:spPr>
        <p:txBody>
          <a:bodyPr wrap="square" lIns="64008" rIns="64008" anchor="t">
            <a:spAutoFit/>
          </a:bodyPr>
          <a:lstStyle/>
          <a:p>
            <a:pPr>
              <a:spcAft>
                <a:spcPts val="700"/>
              </a:spcAft>
              <a:defRPr sz="1900" b="1">
                <a:solidFill>
                  <a:srgbClr val="498051"/>
                </a:solidFill>
                <a:latin typeface="Aptos"/>
              </a:defRPr>
            </a:pPr>
            <a:r>
              <a:t>Good few-shot</a:t>
            </a:r>
          </a:p>
        </p:txBody>
      </p:sp>
      <p:sp>
        <p:nvSpPr>
          <p:cNvPr id="13" name="TextBox 12"/>
          <p:cNvSpPr txBox="1"/>
          <p:nvPr/>
        </p:nvSpPr>
        <p:spPr>
          <a:xfrm>
            <a:off x="3886200" y="2587752"/>
            <a:ext cx="7178040" cy="621792"/>
          </a:xfrm>
          <a:prstGeom prst="rect">
            <a:avLst/>
          </a:prstGeom>
          <a:noFill/>
        </p:spPr>
        <p:txBody>
          <a:bodyPr wrap="square" lIns="64008" rIns="64008" anchor="t">
            <a:spAutoFit/>
          </a:bodyPr>
          <a:lstStyle/>
          <a:p>
            <a:pPr>
              <a:spcAft>
                <a:spcPts val="700"/>
              </a:spcAft>
              <a:defRPr sz="1700" b="0">
                <a:solidFill>
                  <a:srgbClr val="252D37"/>
                </a:solidFill>
                <a:latin typeface="Aptos"/>
              </a:defRPr>
            </a:pPr>
            <a:r>
              <a:t>Same instructions plus correctly labeled training examples.</a:t>
            </a:r>
          </a:p>
        </p:txBody>
      </p:sp>
      <p:sp>
        <p:nvSpPr>
          <p:cNvPr id="14" name="Rounded Rectangle 13"/>
          <p:cNvSpPr/>
          <p:nvPr/>
        </p:nvSpPr>
        <p:spPr>
          <a:xfrm>
            <a:off x="777240" y="3794760"/>
            <a:ext cx="10652760" cy="1005840"/>
          </a:xfrm>
          <a:prstGeom prst="roundRect">
            <a:avLst/>
          </a:prstGeom>
          <a:solidFill>
            <a:srgbClr val="EFF5FB"/>
          </a:solidFill>
          <a:ln>
            <a:solidFill>
              <a:srgbClr val="B73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0120" y="3959352"/>
            <a:ext cx="502920" cy="411480"/>
          </a:xfrm>
          <a:prstGeom prst="rect">
            <a:avLst/>
          </a:prstGeom>
          <a:noFill/>
        </p:spPr>
        <p:txBody>
          <a:bodyPr wrap="square" lIns="64008" rIns="64008" anchor="t">
            <a:spAutoFit/>
          </a:bodyPr>
          <a:lstStyle/>
          <a:p>
            <a:pPr algn="ctr">
              <a:spcAft>
                <a:spcPts val="700"/>
              </a:spcAft>
              <a:defRPr sz="2400" b="1">
                <a:solidFill>
                  <a:srgbClr val="B73737"/>
                </a:solidFill>
                <a:latin typeface="Aptos"/>
              </a:defRPr>
            </a:pPr>
            <a:r>
              <a:t>C</a:t>
            </a:r>
          </a:p>
        </p:txBody>
      </p:sp>
      <p:sp>
        <p:nvSpPr>
          <p:cNvPr id="16" name="TextBox 15"/>
          <p:cNvSpPr txBox="1"/>
          <p:nvPr/>
        </p:nvSpPr>
        <p:spPr>
          <a:xfrm>
            <a:off x="1645920" y="3931920"/>
            <a:ext cx="2377440" cy="365760"/>
          </a:xfrm>
          <a:prstGeom prst="rect">
            <a:avLst/>
          </a:prstGeom>
          <a:noFill/>
        </p:spPr>
        <p:txBody>
          <a:bodyPr wrap="square" lIns="64008" rIns="64008" anchor="t">
            <a:spAutoFit/>
          </a:bodyPr>
          <a:lstStyle/>
          <a:p>
            <a:pPr>
              <a:spcAft>
                <a:spcPts val="700"/>
              </a:spcAft>
              <a:defRPr sz="1900" b="1">
                <a:solidFill>
                  <a:srgbClr val="B73737"/>
                </a:solidFill>
                <a:latin typeface="Aptos"/>
              </a:defRPr>
            </a:pPr>
            <a:r>
              <a:t>Poor few-shot</a:t>
            </a:r>
          </a:p>
        </p:txBody>
      </p:sp>
      <p:sp>
        <p:nvSpPr>
          <p:cNvPr id="17" name="TextBox 16"/>
          <p:cNvSpPr txBox="1"/>
          <p:nvPr/>
        </p:nvSpPr>
        <p:spPr>
          <a:xfrm>
            <a:off x="3886200" y="3913632"/>
            <a:ext cx="7178040" cy="621792"/>
          </a:xfrm>
          <a:prstGeom prst="rect">
            <a:avLst/>
          </a:prstGeom>
          <a:noFill/>
        </p:spPr>
        <p:txBody>
          <a:bodyPr wrap="square" lIns="64008" rIns="64008" anchor="t">
            <a:spAutoFit/>
          </a:bodyPr>
          <a:lstStyle/>
          <a:p>
            <a:pPr>
              <a:spcAft>
                <a:spcPts val="700"/>
              </a:spcAft>
              <a:defRPr sz="1700" b="0">
                <a:solidFill>
                  <a:srgbClr val="252D37"/>
                </a:solidFill>
                <a:latin typeface="Aptos"/>
              </a:defRPr>
            </a:pPr>
            <a:r>
              <a:t>Same instructions, but demonstration labels are deliberately mismatched.</a:t>
            </a:r>
          </a:p>
        </p:txBody>
      </p:sp>
      <p:sp>
        <p:nvSpPr>
          <p:cNvPr id="18" name="Rounded Rectangle 17"/>
          <p:cNvSpPr/>
          <p:nvPr/>
        </p:nvSpPr>
        <p:spPr>
          <a:xfrm>
            <a:off x="777240" y="5440680"/>
            <a:ext cx="10607040" cy="777240"/>
          </a:xfrm>
          <a:prstGeom prst="roundRect">
            <a:avLst/>
          </a:prstGeom>
          <a:solidFill>
            <a:srgbClr val="EFF5FB"/>
          </a:solidFill>
          <a:ln>
            <a:solidFill>
              <a:srgbClr val="2A7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05256" y="5504688"/>
            <a:ext cx="10351008" cy="658368"/>
          </a:xfrm>
          <a:prstGeom prst="rect">
            <a:avLst/>
          </a:prstGeom>
          <a:noFill/>
        </p:spPr>
        <p:txBody>
          <a:bodyPr wrap="square" lIns="64008" rIns="64008" anchor="t">
            <a:spAutoFit/>
          </a:bodyPr>
          <a:lstStyle/>
          <a:p>
            <a:pPr>
              <a:spcAft>
                <a:spcPts val="700"/>
              </a:spcAft>
              <a:defRPr sz="1600" b="0">
                <a:solidFill>
                  <a:srgbClr val="252D37"/>
                </a:solidFill>
                <a:latin typeface="Aptos"/>
              </a:defRPr>
            </a:pPr>
            <a:r>
              <a:t>Fair comparison: keep model, test set, definitions, output format, and evaluation fixed; change only the examples.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52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91440"/>
            <a:ext cx="10881360" cy="438912"/>
          </a:xfrm>
          <a:prstGeom prst="rect">
            <a:avLst/>
          </a:prstGeom>
          <a:noFill/>
        </p:spPr>
        <p:txBody>
          <a:bodyPr wrap="square" lIns="64008" rIns="64008" anchor="ctr">
            <a:spAutoFit/>
          </a:bodyPr>
          <a:lstStyle/>
          <a:p>
            <a:pPr>
              <a:spcAft>
                <a:spcPts val="700"/>
              </a:spcAft>
              <a:defRPr sz="2400" b="1">
                <a:solidFill>
                  <a:srgbClr val="FFFFFF"/>
                </a:solidFill>
                <a:latin typeface="Aptos"/>
              </a:defRPr>
            </a:pPr>
            <a:r>
              <a:t>5. Experimental Setup</a:t>
            </a:r>
          </a:p>
        </p:txBody>
      </p:sp>
      <p:sp>
        <p:nvSpPr>
          <p:cNvPr id="4" name="TextBox 3"/>
          <p:cNvSpPr txBox="1"/>
          <p:nvPr/>
        </p:nvSpPr>
        <p:spPr>
          <a:xfrm>
            <a:off x="11356848" y="137160"/>
            <a:ext cx="411480" cy="292608"/>
          </a:xfrm>
          <a:prstGeom prst="rect">
            <a:avLst/>
          </a:prstGeom>
          <a:noFill/>
        </p:spPr>
        <p:txBody>
          <a:bodyPr wrap="square" lIns="64008" rIns="64008" anchor="t">
            <a:spAutoFit/>
          </a:bodyPr>
          <a:lstStyle/>
          <a:p>
            <a:pPr algn="r">
              <a:spcAft>
                <a:spcPts val="700"/>
              </a:spcAft>
              <a:defRPr sz="1300" b="1">
                <a:solidFill>
                  <a:srgbClr val="FFFFFF"/>
                </a:solidFill>
                <a:latin typeface="Aptos"/>
              </a:defRPr>
            </a:pPr>
            <a:r>
              <a:t>06</a:t>
            </a:r>
          </a:p>
        </p:txBody>
      </p:sp>
      <p:sp>
        <p:nvSpPr>
          <p:cNvPr id="6" name="TextBox 5"/>
          <p:cNvSpPr txBox="1"/>
          <p:nvPr/>
        </p:nvSpPr>
        <p:spPr>
          <a:xfrm>
            <a:off x="777240" y="1097280"/>
            <a:ext cx="10607040" cy="4206240"/>
          </a:xfrm>
          <a:prstGeom prst="rect">
            <a:avLst/>
          </a:prstGeom>
          <a:noFill/>
        </p:spPr>
        <p:txBody>
          <a:bodyPr wrap="square" rIns="73152">
            <a:spAutoFit/>
          </a:bodyPr>
          <a:lstStyle/>
          <a:p>
            <a:pPr>
              <a:spcAft>
                <a:spcPts val="900"/>
              </a:spcAft>
              <a:defRPr sz="1900">
                <a:solidFill>
                  <a:srgbClr val="252D37"/>
                </a:solidFill>
                <a:latin typeface="Aptos"/>
              </a:defRPr>
            </a:pPr>
            <a:r>
              <a:t>• Model: qwen2.5:3b, run locally</a:t>
            </a:r>
          </a:p>
          <a:p>
            <a:pPr>
              <a:spcAft>
                <a:spcPts val="900"/>
              </a:spcAft>
              <a:defRPr sz="1900">
                <a:solidFill>
                  <a:srgbClr val="252D37"/>
                </a:solidFill>
                <a:latin typeface="Aptos"/>
              </a:defRPr>
            </a:pPr>
            <a:r>
              <a:t>• Runtime: Ollama; no OpenAI API key required</a:t>
            </a:r>
          </a:p>
          <a:p>
            <a:pPr>
              <a:spcAft>
                <a:spcPts val="900"/>
              </a:spcAft>
              <a:defRPr sz="1900">
                <a:solidFill>
                  <a:srgbClr val="252D37"/>
                </a:solidFill>
                <a:latin typeface="Aptos"/>
              </a:defRPr>
            </a:pPr>
            <a:r>
              <a:t>• Output format: JSON with one category label</a:t>
            </a:r>
          </a:p>
          <a:p>
            <a:pPr>
              <a:spcAft>
                <a:spcPts val="900"/>
              </a:spcAft>
              <a:defRPr sz="1900">
                <a:solidFill>
                  <a:srgbClr val="252D37"/>
                </a:solidFill>
                <a:latin typeface="Aptos"/>
              </a:defRPr>
            </a:pPr>
            <a:r>
              <a:t>• Temperature: 0 to reduce sampling variation</a:t>
            </a:r>
          </a:p>
          <a:p>
            <a:pPr>
              <a:spcAft>
                <a:spcPts val="900"/>
              </a:spcAft>
              <a:defRPr sz="1900">
                <a:solidFill>
                  <a:srgbClr val="252D37"/>
                </a:solidFill>
                <a:latin typeface="Aptos"/>
              </a:defRPr>
            </a:pPr>
            <a:r>
              <a:t>• Stratified 75/25 split; random_state = 42</a:t>
            </a:r>
          </a:p>
          <a:p>
            <a:pPr>
              <a:spcAft>
                <a:spcPts val="900"/>
              </a:spcAft>
              <a:defRPr sz="1900">
                <a:solidFill>
                  <a:srgbClr val="252D37"/>
                </a:solidFill>
                <a:latin typeface="Aptos"/>
              </a:defRPr>
            </a:pPr>
            <a:r>
              <a:t>• Metrics: Accuracy, macro Precision, macro Recall, Macro-F1</a:t>
            </a:r>
          </a:p>
          <a:p>
            <a:pPr>
              <a:spcAft>
                <a:spcPts val="900"/>
              </a:spcAft>
              <a:defRPr sz="1900">
                <a:solidFill>
                  <a:srgbClr val="252D37"/>
                </a:solidFill>
                <a:latin typeface="Aptos"/>
              </a:defRPr>
            </a:pPr>
            <a:r>
              <a:t>• Outputs: metrics.csv, predictions.csv, chart, confusion matrices</a:t>
            </a:r>
          </a:p>
        </p:txBody>
      </p:sp>
      <p:sp>
        <p:nvSpPr>
          <p:cNvPr id="7" name="Rounded Rectangle 6"/>
          <p:cNvSpPr/>
          <p:nvPr/>
        </p:nvSpPr>
        <p:spPr>
          <a:xfrm>
            <a:off x="777240" y="5577840"/>
            <a:ext cx="10607040" cy="594360"/>
          </a:xfrm>
          <a:prstGeom prst="roundRect">
            <a:avLst/>
          </a:prstGeom>
          <a:solidFill>
            <a:srgbClr val="EFF5FB"/>
          </a:solidFill>
          <a:ln>
            <a:solidFill>
              <a:srgbClr val="2A7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05256" y="5641848"/>
            <a:ext cx="10351008" cy="475488"/>
          </a:xfrm>
          <a:prstGeom prst="rect">
            <a:avLst/>
          </a:prstGeom>
          <a:noFill/>
        </p:spPr>
        <p:txBody>
          <a:bodyPr wrap="square" lIns="64008" rIns="64008" anchor="t">
            <a:spAutoFit/>
          </a:bodyPr>
          <a:lstStyle/>
          <a:p>
            <a:pPr>
              <a:spcAft>
                <a:spcPts val="700"/>
              </a:spcAft>
              <a:defRPr sz="1600" b="0">
                <a:solidFill>
                  <a:srgbClr val="252D37"/>
                </a:solidFill>
                <a:latin typeface="Aptos"/>
              </a:defRPr>
            </a:pPr>
            <a:r>
              <a:t>All three strategies use the same test set, enabling a direct comparison.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52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91440"/>
            <a:ext cx="10881360" cy="438912"/>
          </a:xfrm>
          <a:prstGeom prst="rect">
            <a:avLst/>
          </a:prstGeom>
          <a:noFill/>
        </p:spPr>
        <p:txBody>
          <a:bodyPr wrap="square" lIns="64008" rIns="64008" anchor="ctr">
            <a:spAutoFit/>
          </a:bodyPr>
          <a:lstStyle/>
          <a:p>
            <a:pPr>
              <a:spcAft>
                <a:spcPts val="700"/>
              </a:spcAft>
              <a:defRPr sz="2400" b="1">
                <a:solidFill>
                  <a:srgbClr val="FFFFFF"/>
                </a:solidFill>
                <a:latin typeface="Aptos"/>
              </a:defRPr>
            </a:pPr>
            <a:r>
              <a:t>6. Results: Strategy Comparison</a:t>
            </a:r>
          </a:p>
        </p:txBody>
      </p:sp>
      <p:sp>
        <p:nvSpPr>
          <p:cNvPr id="4" name="TextBox 3"/>
          <p:cNvSpPr txBox="1"/>
          <p:nvPr/>
        </p:nvSpPr>
        <p:spPr>
          <a:xfrm>
            <a:off x="11356848" y="137160"/>
            <a:ext cx="411480" cy="292608"/>
          </a:xfrm>
          <a:prstGeom prst="rect">
            <a:avLst/>
          </a:prstGeom>
          <a:noFill/>
        </p:spPr>
        <p:txBody>
          <a:bodyPr wrap="square" lIns="64008" rIns="64008" anchor="t">
            <a:spAutoFit/>
          </a:bodyPr>
          <a:lstStyle/>
          <a:p>
            <a:pPr algn="r">
              <a:spcAft>
                <a:spcPts val="700"/>
              </a:spcAft>
              <a:defRPr sz="1300" b="1">
                <a:solidFill>
                  <a:srgbClr val="FFFFFF"/>
                </a:solidFill>
                <a:latin typeface="Aptos"/>
              </a:defRPr>
            </a:pPr>
            <a:r>
              <a:t>07</a:t>
            </a:r>
          </a:p>
        </p:txBody>
      </p:sp>
      <p:pic>
        <p:nvPicPr>
          <p:cNvPr id="6" name="Picture 5" descr="comparison_chart.png"/>
          <p:cNvPicPr>
            <a:picLocks noChangeAspect="1"/>
          </p:cNvPicPr>
          <p:nvPr/>
        </p:nvPicPr>
        <p:blipFill>
          <a:blip r:embed="rId3"/>
          <a:stretch>
            <a:fillRect/>
          </a:stretch>
        </p:blipFill>
        <p:spPr>
          <a:xfrm>
            <a:off x="411480" y="1380744"/>
            <a:ext cx="6903720" cy="4142231"/>
          </a:xfrm>
          <a:prstGeom prst="rect">
            <a:avLst/>
          </a:prstGeom>
        </p:spPr>
      </p:pic>
      <p:sp>
        <p:nvSpPr>
          <p:cNvPr id="7" name="Rounded Rectangle 6"/>
          <p:cNvSpPr/>
          <p:nvPr/>
        </p:nvSpPr>
        <p:spPr>
          <a:xfrm>
            <a:off x="7543800" y="1325880"/>
            <a:ext cx="3886200" cy="1078992"/>
          </a:xfrm>
          <a:prstGeom prst="roundRect">
            <a:avLst/>
          </a:prstGeom>
          <a:solidFill>
            <a:srgbClr val="EFF5FB"/>
          </a:solidFill>
          <a:ln>
            <a:solidFill>
              <a:srgbClr val="2A7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26679" y="1435607"/>
            <a:ext cx="2103120" cy="292608"/>
          </a:xfrm>
          <a:prstGeom prst="rect">
            <a:avLst/>
          </a:prstGeom>
          <a:noFill/>
        </p:spPr>
        <p:txBody>
          <a:bodyPr wrap="square" lIns="64008" rIns="64008" anchor="t">
            <a:spAutoFit/>
          </a:bodyPr>
          <a:lstStyle/>
          <a:p>
            <a:pPr>
              <a:spcAft>
                <a:spcPts val="700"/>
              </a:spcAft>
              <a:defRPr sz="1700" b="1">
                <a:solidFill>
                  <a:srgbClr val="2A70B0"/>
                </a:solidFill>
                <a:latin typeface="Aptos"/>
              </a:defRPr>
            </a:pPr>
            <a:r>
              <a:t>Zero-shot</a:t>
            </a:r>
          </a:p>
        </p:txBody>
      </p:sp>
      <p:sp>
        <p:nvSpPr>
          <p:cNvPr id="9" name="TextBox 8"/>
          <p:cNvSpPr txBox="1"/>
          <p:nvPr/>
        </p:nvSpPr>
        <p:spPr>
          <a:xfrm>
            <a:off x="7726679" y="1828800"/>
            <a:ext cx="3474720" cy="320040"/>
          </a:xfrm>
          <a:prstGeom prst="rect">
            <a:avLst/>
          </a:prstGeom>
          <a:noFill/>
        </p:spPr>
        <p:txBody>
          <a:bodyPr wrap="square" lIns="64008" rIns="64008" anchor="t">
            <a:spAutoFit/>
          </a:bodyPr>
          <a:lstStyle/>
          <a:p>
            <a:pPr>
              <a:spcAft>
                <a:spcPts val="700"/>
              </a:spcAft>
              <a:defRPr sz="1500" b="0">
                <a:solidFill>
                  <a:srgbClr val="252D37"/>
                </a:solidFill>
                <a:latin typeface="Aptos"/>
              </a:defRPr>
            </a:pPr>
            <a:r>
              <a:t>Accuracy 98.4% | Macro-F1 0.984</a:t>
            </a:r>
          </a:p>
        </p:txBody>
      </p:sp>
      <p:sp>
        <p:nvSpPr>
          <p:cNvPr id="10" name="Rounded Rectangle 9"/>
          <p:cNvSpPr/>
          <p:nvPr/>
        </p:nvSpPr>
        <p:spPr>
          <a:xfrm>
            <a:off x="7543800" y="2679191"/>
            <a:ext cx="3886200" cy="1078992"/>
          </a:xfrm>
          <a:prstGeom prst="roundRect">
            <a:avLst/>
          </a:prstGeom>
          <a:solidFill>
            <a:srgbClr val="EFF5FB"/>
          </a:solidFill>
          <a:ln>
            <a:solidFill>
              <a:srgbClr val="4980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26679" y="2788920"/>
            <a:ext cx="2103120" cy="292608"/>
          </a:xfrm>
          <a:prstGeom prst="rect">
            <a:avLst/>
          </a:prstGeom>
          <a:noFill/>
        </p:spPr>
        <p:txBody>
          <a:bodyPr wrap="square" lIns="64008" rIns="64008" anchor="t">
            <a:spAutoFit/>
          </a:bodyPr>
          <a:lstStyle/>
          <a:p>
            <a:pPr>
              <a:spcAft>
                <a:spcPts val="700"/>
              </a:spcAft>
              <a:defRPr sz="1700" b="1">
                <a:solidFill>
                  <a:srgbClr val="498051"/>
                </a:solidFill>
                <a:latin typeface="Aptos"/>
              </a:defRPr>
            </a:pPr>
            <a:r>
              <a:t>Good few-shot</a:t>
            </a:r>
          </a:p>
        </p:txBody>
      </p:sp>
      <p:sp>
        <p:nvSpPr>
          <p:cNvPr id="12" name="TextBox 11"/>
          <p:cNvSpPr txBox="1"/>
          <p:nvPr/>
        </p:nvSpPr>
        <p:spPr>
          <a:xfrm>
            <a:off x="7726679" y="3182111"/>
            <a:ext cx="3474720" cy="320040"/>
          </a:xfrm>
          <a:prstGeom prst="rect">
            <a:avLst/>
          </a:prstGeom>
          <a:noFill/>
        </p:spPr>
        <p:txBody>
          <a:bodyPr wrap="square" lIns="64008" rIns="64008" anchor="t">
            <a:spAutoFit/>
          </a:bodyPr>
          <a:lstStyle/>
          <a:p>
            <a:pPr>
              <a:spcAft>
                <a:spcPts val="700"/>
              </a:spcAft>
              <a:defRPr sz="1500" b="0">
                <a:solidFill>
                  <a:srgbClr val="252D37"/>
                </a:solidFill>
                <a:latin typeface="Aptos"/>
              </a:defRPr>
            </a:pPr>
            <a:r>
              <a:t>Accuracy 97.2% | Macro-F1 0.972</a:t>
            </a:r>
          </a:p>
        </p:txBody>
      </p:sp>
      <p:sp>
        <p:nvSpPr>
          <p:cNvPr id="13" name="Rounded Rectangle 12"/>
          <p:cNvSpPr/>
          <p:nvPr/>
        </p:nvSpPr>
        <p:spPr>
          <a:xfrm>
            <a:off x="7543800" y="4032504"/>
            <a:ext cx="3886200" cy="1078992"/>
          </a:xfrm>
          <a:prstGeom prst="roundRect">
            <a:avLst/>
          </a:prstGeom>
          <a:solidFill>
            <a:srgbClr val="EFF5FB"/>
          </a:solidFill>
          <a:ln>
            <a:solidFill>
              <a:srgbClr val="B73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26679" y="4142232"/>
            <a:ext cx="2103120" cy="292608"/>
          </a:xfrm>
          <a:prstGeom prst="rect">
            <a:avLst/>
          </a:prstGeom>
          <a:noFill/>
        </p:spPr>
        <p:txBody>
          <a:bodyPr wrap="square" lIns="64008" rIns="64008" anchor="t">
            <a:spAutoFit/>
          </a:bodyPr>
          <a:lstStyle/>
          <a:p>
            <a:pPr>
              <a:spcAft>
                <a:spcPts val="700"/>
              </a:spcAft>
              <a:defRPr sz="1700" b="1">
                <a:solidFill>
                  <a:srgbClr val="B73737"/>
                </a:solidFill>
                <a:latin typeface="Aptos"/>
              </a:defRPr>
            </a:pPr>
            <a:r>
              <a:t>Poor few-shot</a:t>
            </a:r>
          </a:p>
        </p:txBody>
      </p:sp>
      <p:sp>
        <p:nvSpPr>
          <p:cNvPr id="15" name="TextBox 14"/>
          <p:cNvSpPr txBox="1"/>
          <p:nvPr/>
        </p:nvSpPr>
        <p:spPr>
          <a:xfrm>
            <a:off x="7726679" y="4535424"/>
            <a:ext cx="3474720" cy="320040"/>
          </a:xfrm>
          <a:prstGeom prst="rect">
            <a:avLst/>
          </a:prstGeom>
          <a:noFill/>
        </p:spPr>
        <p:txBody>
          <a:bodyPr wrap="square" lIns="64008" rIns="64008" anchor="t">
            <a:spAutoFit/>
          </a:bodyPr>
          <a:lstStyle/>
          <a:p>
            <a:pPr>
              <a:spcAft>
                <a:spcPts val="700"/>
              </a:spcAft>
              <a:defRPr sz="1500" b="0">
                <a:solidFill>
                  <a:srgbClr val="252D37"/>
                </a:solidFill>
                <a:latin typeface="Aptos"/>
              </a:defRPr>
            </a:pPr>
            <a:r>
              <a:t>Accuracy 92.8% | Macro-F1 0.929</a:t>
            </a:r>
          </a:p>
        </p:txBody>
      </p:sp>
      <p:sp>
        <p:nvSpPr>
          <p:cNvPr id="16" name="Rounded Rectangle 15"/>
          <p:cNvSpPr/>
          <p:nvPr/>
        </p:nvSpPr>
        <p:spPr>
          <a:xfrm>
            <a:off x="7543800" y="5623560"/>
            <a:ext cx="3886200" cy="548640"/>
          </a:xfrm>
          <a:prstGeom prst="roundRect">
            <a:avLst/>
          </a:prstGeom>
          <a:solidFill>
            <a:srgbClr val="EFF5FB"/>
          </a:solidFill>
          <a:ln>
            <a:solidFill>
              <a:srgbClr val="007D8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671816" y="5687568"/>
            <a:ext cx="3630168" cy="429768"/>
          </a:xfrm>
          <a:prstGeom prst="rect">
            <a:avLst/>
          </a:prstGeom>
          <a:noFill/>
        </p:spPr>
        <p:txBody>
          <a:bodyPr wrap="square" lIns="64008" rIns="64008" anchor="t">
            <a:spAutoFit/>
          </a:bodyPr>
          <a:lstStyle/>
          <a:p>
            <a:pPr>
              <a:spcAft>
                <a:spcPts val="700"/>
              </a:spcAft>
              <a:defRPr sz="1500" b="0">
                <a:solidFill>
                  <a:srgbClr val="252D37"/>
                </a:solidFill>
                <a:latin typeface="Aptos"/>
              </a:defRPr>
            </a:pPr>
            <a:r>
              <a:t>Best observed: zero-shot. Lowest: poor few-shot.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52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91440"/>
            <a:ext cx="10881360" cy="438912"/>
          </a:xfrm>
          <a:prstGeom prst="rect">
            <a:avLst/>
          </a:prstGeom>
          <a:noFill/>
        </p:spPr>
        <p:txBody>
          <a:bodyPr wrap="square" lIns="64008" rIns="64008" anchor="ctr">
            <a:spAutoFit/>
          </a:bodyPr>
          <a:lstStyle/>
          <a:p>
            <a:pPr>
              <a:spcAft>
                <a:spcPts val="700"/>
              </a:spcAft>
              <a:defRPr sz="2400" b="1">
                <a:solidFill>
                  <a:srgbClr val="FFFFFF"/>
                </a:solidFill>
                <a:latin typeface="Aptos"/>
              </a:defRPr>
            </a:pPr>
            <a:r>
              <a:t>7. Interesting / Failure Cases</a:t>
            </a:r>
          </a:p>
        </p:txBody>
      </p:sp>
      <p:sp>
        <p:nvSpPr>
          <p:cNvPr id="4" name="TextBox 3"/>
          <p:cNvSpPr txBox="1"/>
          <p:nvPr/>
        </p:nvSpPr>
        <p:spPr>
          <a:xfrm>
            <a:off x="11356848" y="137160"/>
            <a:ext cx="411480" cy="292608"/>
          </a:xfrm>
          <a:prstGeom prst="rect">
            <a:avLst/>
          </a:prstGeom>
          <a:noFill/>
        </p:spPr>
        <p:txBody>
          <a:bodyPr wrap="square" lIns="64008" rIns="64008" anchor="t">
            <a:spAutoFit/>
          </a:bodyPr>
          <a:lstStyle/>
          <a:p>
            <a:pPr algn="r">
              <a:spcAft>
                <a:spcPts val="700"/>
              </a:spcAft>
              <a:defRPr sz="1300" b="1">
                <a:solidFill>
                  <a:srgbClr val="FFFFFF"/>
                </a:solidFill>
                <a:latin typeface="Aptos"/>
              </a:defRPr>
            </a:pPr>
            <a:r>
              <a:t>08</a:t>
            </a:r>
          </a:p>
        </p:txBody>
      </p:sp>
      <p:pic>
        <p:nvPicPr>
          <p:cNvPr id="6" name="Picture 5" descr="poor_few_shot_confusion_matrix.png"/>
          <p:cNvPicPr>
            <a:picLocks noChangeAspect="1"/>
          </p:cNvPicPr>
          <p:nvPr/>
        </p:nvPicPr>
        <p:blipFill>
          <a:blip r:embed="rId3"/>
          <a:stretch>
            <a:fillRect/>
          </a:stretch>
        </p:blipFill>
        <p:spPr>
          <a:xfrm>
            <a:off x="411480" y="1129937"/>
            <a:ext cx="6629400" cy="4735285"/>
          </a:xfrm>
          <a:prstGeom prst="rect">
            <a:avLst/>
          </a:prstGeom>
        </p:spPr>
      </p:pic>
      <p:sp>
        <p:nvSpPr>
          <p:cNvPr id="7" name="TextBox 6"/>
          <p:cNvSpPr txBox="1"/>
          <p:nvPr/>
        </p:nvSpPr>
        <p:spPr>
          <a:xfrm>
            <a:off x="7178040" y="1234440"/>
            <a:ext cx="3840480" cy="411480"/>
          </a:xfrm>
          <a:prstGeom prst="rect">
            <a:avLst/>
          </a:prstGeom>
          <a:noFill/>
        </p:spPr>
        <p:txBody>
          <a:bodyPr wrap="square" lIns="64008" rIns="64008" anchor="t">
            <a:spAutoFit/>
          </a:bodyPr>
          <a:lstStyle/>
          <a:p>
            <a:pPr>
              <a:spcAft>
                <a:spcPts val="700"/>
              </a:spcAft>
              <a:defRPr sz="2200" b="1">
                <a:solidFill>
                  <a:srgbClr val="152A4B"/>
                </a:solidFill>
                <a:latin typeface="Aptos"/>
              </a:defRPr>
            </a:pPr>
            <a:r>
              <a:t>What stands out?</a:t>
            </a:r>
          </a:p>
        </p:txBody>
      </p:sp>
      <p:sp>
        <p:nvSpPr>
          <p:cNvPr id="8" name="TextBox 7"/>
          <p:cNvSpPr txBox="1"/>
          <p:nvPr/>
        </p:nvSpPr>
        <p:spPr>
          <a:xfrm>
            <a:off x="7178040" y="1783080"/>
            <a:ext cx="4297680" cy="3108960"/>
          </a:xfrm>
          <a:prstGeom prst="rect">
            <a:avLst/>
          </a:prstGeom>
          <a:noFill/>
        </p:spPr>
        <p:txBody>
          <a:bodyPr wrap="square" rIns="73152">
            <a:spAutoFit/>
          </a:bodyPr>
          <a:lstStyle/>
          <a:p>
            <a:pPr>
              <a:spcAft>
                <a:spcPts val="1000"/>
              </a:spcAft>
              <a:defRPr sz="1700">
                <a:solidFill>
                  <a:srgbClr val="252D37"/>
                </a:solidFill>
                <a:latin typeface="Aptos"/>
              </a:defRPr>
            </a:pPr>
            <a:r>
              <a:t>• Poor few-shot: 12 actual Account complaints predicted as Billing.</a:t>
            </a:r>
          </a:p>
          <a:p>
            <a:pPr>
              <a:spcAft>
                <a:spcPts val="1000"/>
              </a:spcAft>
              <a:defRPr sz="1700">
                <a:solidFill>
                  <a:srgbClr val="252D37"/>
                </a:solidFill>
                <a:latin typeface="Aptos"/>
              </a:defRPr>
            </a:pPr>
            <a:r>
              <a:t>• Technical complaints were occasionally confused with Billing or Account.</a:t>
            </a:r>
          </a:p>
          <a:p>
            <a:pPr>
              <a:spcAft>
                <a:spcPts val="1000"/>
              </a:spcAft>
              <a:defRPr sz="1700">
                <a:solidFill>
                  <a:srgbClr val="252D37"/>
                </a:solidFill>
                <a:latin typeface="Aptos"/>
              </a:defRPr>
            </a:pPr>
            <a:r>
              <a:t>• Zero-shot made fewer total errors than either few-shot condition.</a:t>
            </a:r>
          </a:p>
          <a:p>
            <a:pPr>
              <a:spcAft>
                <a:spcPts val="1000"/>
              </a:spcAft>
              <a:defRPr sz="1700">
                <a:solidFill>
                  <a:srgbClr val="252D37"/>
                </a:solidFill>
                <a:latin typeface="Aptos"/>
              </a:defRPr>
            </a:pPr>
            <a:r>
              <a:t>• Incorrect demonstrations may bias the model toward wrong labels.</a:t>
            </a:r>
          </a:p>
        </p:txBody>
      </p:sp>
      <p:sp>
        <p:nvSpPr>
          <p:cNvPr id="9" name="Rounded Rectangle 8"/>
          <p:cNvSpPr/>
          <p:nvPr/>
        </p:nvSpPr>
        <p:spPr>
          <a:xfrm>
            <a:off x="7178040" y="5257800"/>
            <a:ext cx="4297680" cy="822960"/>
          </a:xfrm>
          <a:prstGeom prst="roundRect">
            <a:avLst/>
          </a:prstGeom>
          <a:solidFill>
            <a:srgbClr val="EFF5FB"/>
          </a:solidFill>
          <a:ln>
            <a:solidFill>
              <a:srgbClr val="2A7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06055" y="5321808"/>
            <a:ext cx="4041648" cy="704088"/>
          </a:xfrm>
          <a:prstGeom prst="rect">
            <a:avLst/>
          </a:prstGeom>
          <a:noFill/>
        </p:spPr>
        <p:txBody>
          <a:bodyPr wrap="square" lIns="64008" rIns="64008" anchor="t">
            <a:spAutoFit/>
          </a:bodyPr>
          <a:lstStyle/>
          <a:p>
            <a:pPr>
              <a:spcAft>
                <a:spcPts val="700"/>
              </a:spcAft>
              <a:defRPr sz="1500" b="0">
                <a:solidFill>
                  <a:srgbClr val="252D37"/>
                </a:solidFill>
                <a:latin typeface="Aptos"/>
              </a:defRPr>
            </a:pPr>
            <a:r>
              <a:t>Rows = actual class; columns = predicted class; diagonal = correct predictions.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52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91440"/>
            <a:ext cx="10881360" cy="438912"/>
          </a:xfrm>
          <a:prstGeom prst="rect">
            <a:avLst/>
          </a:prstGeom>
          <a:noFill/>
        </p:spPr>
        <p:txBody>
          <a:bodyPr wrap="square" lIns="64008" rIns="64008" anchor="ctr">
            <a:spAutoFit/>
          </a:bodyPr>
          <a:lstStyle/>
          <a:p>
            <a:pPr>
              <a:spcAft>
                <a:spcPts val="700"/>
              </a:spcAft>
              <a:defRPr sz="2400" b="1">
                <a:solidFill>
                  <a:srgbClr val="FFFFFF"/>
                </a:solidFill>
                <a:latin typeface="Aptos"/>
              </a:defRPr>
            </a:pPr>
            <a:r>
              <a:t>8. Conclusion, Limitations &amp; Future Work</a:t>
            </a:r>
          </a:p>
        </p:txBody>
      </p:sp>
      <p:sp>
        <p:nvSpPr>
          <p:cNvPr id="4" name="TextBox 3"/>
          <p:cNvSpPr txBox="1"/>
          <p:nvPr/>
        </p:nvSpPr>
        <p:spPr>
          <a:xfrm>
            <a:off x="11356848" y="137160"/>
            <a:ext cx="411480" cy="292608"/>
          </a:xfrm>
          <a:prstGeom prst="rect">
            <a:avLst/>
          </a:prstGeom>
          <a:noFill/>
        </p:spPr>
        <p:txBody>
          <a:bodyPr wrap="square" lIns="64008" rIns="64008" anchor="t">
            <a:spAutoFit/>
          </a:bodyPr>
          <a:lstStyle/>
          <a:p>
            <a:pPr algn="r">
              <a:spcAft>
                <a:spcPts val="700"/>
              </a:spcAft>
              <a:defRPr sz="1300" b="1">
                <a:solidFill>
                  <a:srgbClr val="FFFFFF"/>
                </a:solidFill>
                <a:latin typeface="Aptos"/>
              </a:defRPr>
            </a:pPr>
            <a:r>
              <a:t>09</a:t>
            </a:r>
          </a:p>
        </p:txBody>
      </p:sp>
      <p:sp>
        <p:nvSpPr>
          <p:cNvPr id="6" name="TextBox 5"/>
          <p:cNvSpPr txBox="1"/>
          <p:nvPr/>
        </p:nvSpPr>
        <p:spPr>
          <a:xfrm>
            <a:off x="731520" y="1051560"/>
            <a:ext cx="2194560" cy="365760"/>
          </a:xfrm>
          <a:prstGeom prst="rect">
            <a:avLst/>
          </a:prstGeom>
          <a:noFill/>
        </p:spPr>
        <p:txBody>
          <a:bodyPr wrap="square" lIns="64008" rIns="64008" anchor="t">
            <a:spAutoFit/>
          </a:bodyPr>
          <a:lstStyle/>
          <a:p>
            <a:pPr>
              <a:spcAft>
                <a:spcPts val="700"/>
              </a:spcAft>
              <a:defRPr sz="2200" b="1">
                <a:solidFill>
                  <a:srgbClr val="2A70B0"/>
                </a:solidFill>
                <a:latin typeface="Aptos"/>
              </a:defRPr>
            </a:pPr>
            <a:r>
              <a:t>Conclusion</a:t>
            </a:r>
          </a:p>
        </p:txBody>
      </p:sp>
      <p:sp>
        <p:nvSpPr>
          <p:cNvPr id="7" name="TextBox 6"/>
          <p:cNvSpPr txBox="1"/>
          <p:nvPr/>
        </p:nvSpPr>
        <p:spPr>
          <a:xfrm>
            <a:off x="822960" y="1481328"/>
            <a:ext cx="10424160" cy="1417320"/>
          </a:xfrm>
          <a:prstGeom prst="rect">
            <a:avLst/>
          </a:prstGeom>
          <a:noFill/>
        </p:spPr>
        <p:txBody>
          <a:bodyPr wrap="square" rIns="73152">
            <a:spAutoFit/>
          </a:bodyPr>
          <a:lstStyle/>
          <a:p>
            <a:pPr>
              <a:spcAft>
                <a:spcPts val="700"/>
              </a:spcAft>
              <a:defRPr sz="1700">
                <a:solidFill>
                  <a:srgbClr val="252D37"/>
                </a:solidFill>
                <a:latin typeface="Aptos"/>
              </a:defRPr>
            </a:pPr>
            <a:r>
              <a:t>• Prompt strategy affected performance in this experiment.</a:t>
            </a:r>
          </a:p>
          <a:p>
            <a:pPr>
              <a:spcAft>
                <a:spcPts val="700"/>
              </a:spcAft>
              <a:defRPr sz="1700">
                <a:solidFill>
                  <a:srgbClr val="252D37"/>
                </a:solidFill>
                <a:latin typeface="Aptos"/>
              </a:defRPr>
            </a:pPr>
            <a:r>
              <a:t>• Zero-shot was strongest; deliberately poor examples produced the most errors.</a:t>
            </a:r>
          </a:p>
          <a:p>
            <a:pPr>
              <a:spcAft>
                <a:spcPts val="700"/>
              </a:spcAft>
              <a:defRPr sz="1700">
                <a:solidFill>
                  <a:srgbClr val="252D37"/>
                </a:solidFill>
                <a:latin typeface="Aptos"/>
              </a:defRPr>
            </a:pPr>
            <a:r>
              <a:t>• Good examples did not outperform clear category instructions in this run.</a:t>
            </a:r>
          </a:p>
        </p:txBody>
      </p:sp>
      <p:sp>
        <p:nvSpPr>
          <p:cNvPr id="8" name="TextBox 7"/>
          <p:cNvSpPr txBox="1"/>
          <p:nvPr/>
        </p:nvSpPr>
        <p:spPr>
          <a:xfrm>
            <a:off x="731520" y="3154680"/>
            <a:ext cx="2194560" cy="365760"/>
          </a:xfrm>
          <a:prstGeom prst="rect">
            <a:avLst/>
          </a:prstGeom>
          <a:noFill/>
        </p:spPr>
        <p:txBody>
          <a:bodyPr wrap="square" lIns="64008" rIns="64008" anchor="t">
            <a:spAutoFit/>
          </a:bodyPr>
          <a:lstStyle/>
          <a:p>
            <a:pPr>
              <a:spcAft>
                <a:spcPts val="700"/>
              </a:spcAft>
              <a:defRPr sz="2200" b="1">
                <a:solidFill>
                  <a:srgbClr val="E17E30"/>
                </a:solidFill>
                <a:latin typeface="Aptos"/>
              </a:defRPr>
            </a:pPr>
            <a:r>
              <a:t>Limitations</a:t>
            </a:r>
          </a:p>
        </p:txBody>
      </p:sp>
      <p:sp>
        <p:nvSpPr>
          <p:cNvPr id="9" name="TextBox 8"/>
          <p:cNvSpPr txBox="1"/>
          <p:nvPr/>
        </p:nvSpPr>
        <p:spPr>
          <a:xfrm>
            <a:off x="822960" y="3566160"/>
            <a:ext cx="5212080" cy="1554480"/>
          </a:xfrm>
          <a:prstGeom prst="rect">
            <a:avLst/>
          </a:prstGeom>
          <a:noFill/>
        </p:spPr>
        <p:txBody>
          <a:bodyPr wrap="square" rIns="73152">
            <a:spAutoFit/>
          </a:bodyPr>
          <a:lstStyle/>
          <a:p>
            <a:pPr>
              <a:spcAft>
                <a:spcPts val="700"/>
              </a:spcAft>
              <a:defRPr sz="1600">
                <a:solidFill>
                  <a:srgbClr val="252D37"/>
                </a:solidFill>
                <a:latin typeface="Aptos"/>
              </a:defRPr>
            </a:pPr>
            <a:r>
              <a:t>• Synthetic, templated data can cause near-duplicate train/test examples.</a:t>
            </a:r>
          </a:p>
          <a:p>
            <a:pPr>
              <a:spcAft>
                <a:spcPts val="700"/>
              </a:spcAft>
              <a:defRPr sz="1600">
                <a:solidFill>
                  <a:srgbClr val="252D37"/>
                </a:solidFill>
                <a:latin typeface="Aptos"/>
              </a:defRPr>
            </a:pPr>
            <a:r>
              <a:t>• Only one model and one split are represented.</a:t>
            </a:r>
          </a:p>
          <a:p>
            <a:pPr>
              <a:spcAft>
                <a:spcPts val="700"/>
              </a:spcAft>
              <a:defRPr sz="1600">
                <a:solidFill>
                  <a:srgbClr val="252D37"/>
                </a:solidFill>
                <a:latin typeface="Aptos"/>
              </a:defRPr>
            </a:pPr>
            <a:r>
              <a:t>• Results may not transfer to ambiguous real complaints.</a:t>
            </a:r>
          </a:p>
        </p:txBody>
      </p:sp>
      <p:sp>
        <p:nvSpPr>
          <p:cNvPr id="10" name="TextBox 9"/>
          <p:cNvSpPr txBox="1"/>
          <p:nvPr/>
        </p:nvSpPr>
        <p:spPr>
          <a:xfrm>
            <a:off x="6217920" y="3154680"/>
            <a:ext cx="2194560" cy="365760"/>
          </a:xfrm>
          <a:prstGeom prst="rect">
            <a:avLst/>
          </a:prstGeom>
          <a:noFill/>
        </p:spPr>
        <p:txBody>
          <a:bodyPr wrap="square" lIns="64008" rIns="64008" anchor="t">
            <a:spAutoFit/>
          </a:bodyPr>
          <a:lstStyle/>
          <a:p>
            <a:pPr>
              <a:spcAft>
                <a:spcPts val="700"/>
              </a:spcAft>
              <a:defRPr sz="2200" b="1">
                <a:solidFill>
                  <a:srgbClr val="007D82"/>
                </a:solidFill>
                <a:latin typeface="Aptos"/>
              </a:defRPr>
            </a:pPr>
            <a:r>
              <a:t>Future work</a:t>
            </a:r>
          </a:p>
        </p:txBody>
      </p:sp>
      <p:sp>
        <p:nvSpPr>
          <p:cNvPr id="11" name="TextBox 10"/>
          <p:cNvSpPr txBox="1"/>
          <p:nvPr/>
        </p:nvSpPr>
        <p:spPr>
          <a:xfrm>
            <a:off x="6309360" y="3566160"/>
            <a:ext cx="5029200" cy="1645920"/>
          </a:xfrm>
          <a:prstGeom prst="rect">
            <a:avLst/>
          </a:prstGeom>
          <a:noFill/>
        </p:spPr>
        <p:txBody>
          <a:bodyPr wrap="square" rIns="73152">
            <a:spAutoFit/>
          </a:bodyPr>
          <a:lstStyle/>
          <a:p>
            <a:pPr>
              <a:spcAft>
                <a:spcPts val="700"/>
              </a:spcAft>
              <a:defRPr sz="1600">
                <a:solidFill>
                  <a:srgbClr val="252D37"/>
                </a:solidFill>
                <a:latin typeface="Aptos"/>
              </a:defRPr>
            </a:pPr>
            <a:r>
              <a:t>• Use real or independently written complaints.</a:t>
            </a:r>
          </a:p>
          <a:p>
            <a:pPr>
              <a:spcAft>
                <a:spcPts val="700"/>
              </a:spcAft>
              <a:defRPr sz="1600">
                <a:solidFill>
                  <a:srgbClr val="252D37"/>
                </a:solidFill>
                <a:latin typeface="Aptos"/>
              </a:defRPr>
            </a:pPr>
            <a:r>
              <a:t>• Split by base complaint before paraphrasing.</a:t>
            </a:r>
          </a:p>
          <a:p>
            <a:pPr>
              <a:spcAft>
                <a:spcPts val="700"/>
              </a:spcAft>
              <a:defRPr sz="1600">
                <a:solidFill>
                  <a:srgbClr val="252D37"/>
                </a:solidFill>
                <a:latin typeface="Aptos"/>
              </a:defRPr>
            </a:pPr>
            <a:r>
              <a:t>• Test multiple seeds and models; report mean ± standard deviation.</a:t>
            </a:r>
          </a:p>
          <a:p>
            <a:pPr>
              <a:spcAft>
                <a:spcPts val="700"/>
              </a:spcAft>
              <a:defRPr sz="1600">
                <a:solidFill>
                  <a:srgbClr val="252D37"/>
                </a:solidFill>
                <a:latin typeface="Aptos"/>
              </a:defRPr>
            </a:pPr>
            <a:r>
              <a:t>• Review per-class metrics and individual errors.</a:t>
            </a:r>
          </a:p>
        </p:txBody>
      </p:sp>
      <p:sp>
        <p:nvSpPr>
          <p:cNvPr id="12" name="Rounded Rectangle 11"/>
          <p:cNvSpPr/>
          <p:nvPr/>
        </p:nvSpPr>
        <p:spPr>
          <a:xfrm>
            <a:off x="777240" y="5806440"/>
            <a:ext cx="10607040" cy="502920"/>
          </a:xfrm>
          <a:prstGeom prst="roundRect">
            <a:avLst/>
          </a:prstGeom>
          <a:solidFill>
            <a:srgbClr val="EFF5FB"/>
          </a:solidFill>
          <a:ln>
            <a:solidFill>
              <a:srgbClr val="2A7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05256" y="5870448"/>
            <a:ext cx="10351008" cy="384048"/>
          </a:xfrm>
          <a:prstGeom prst="rect">
            <a:avLst/>
          </a:prstGeom>
          <a:noFill/>
        </p:spPr>
        <p:txBody>
          <a:bodyPr wrap="square" lIns="64008" rIns="64008" anchor="t">
            <a:spAutoFit/>
          </a:bodyPr>
          <a:lstStyle/>
          <a:p>
            <a:pPr>
              <a:spcAft>
                <a:spcPts val="700"/>
              </a:spcAft>
              <a:defRPr sz="1500" b="0">
                <a:solidFill>
                  <a:srgbClr val="252D37"/>
                </a:solidFill>
                <a:latin typeface="Aptos"/>
              </a:defRPr>
            </a:pPr>
            <a:r>
              <a:t>Takeaway: prompt examples can help or hurt; test them on a realistic evaluation set.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2B4B7FC-343B-742F-F387-56F2EA399DC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7CA5790-C701-727E-955B-4536D20C3C42}"/>
              </a:ext>
            </a:extLst>
          </p:cNvPr>
          <p:cNvSpPr/>
          <p:nvPr/>
        </p:nvSpPr>
        <p:spPr>
          <a:xfrm>
            <a:off x="0" y="0"/>
            <a:ext cx="12191695" cy="658368"/>
          </a:xfrm>
          <a:prstGeom prst="rect">
            <a:avLst/>
          </a:prstGeom>
          <a:solidFill>
            <a:srgbClr val="152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A51E738F-A117-728D-E2DD-720D1F75C1FE}"/>
              </a:ext>
            </a:extLst>
          </p:cNvPr>
          <p:cNvSpPr txBox="1"/>
          <p:nvPr/>
        </p:nvSpPr>
        <p:spPr>
          <a:xfrm>
            <a:off x="3156002" y="2921168"/>
            <a:ext cx="5879690" cy="1015663"/>
          </a:xfrm>
          <a:prstGeom prst="rect">
            <a:avLst/>
          </a:prstGeom>
          <a:noFill/>
        </p:spPr>
        <p:txBody>
          <a:bodyPr wrap="square" rtlCol="0">
            <a:spAutoFit/>
          </a:bodyPr>
          <a:lstStyle/>
          <a:p>
            <a:pPr algn="ctr"/>
            <a:r>
              <a:rPr lang="en-IN" sz="6000" dirty="0">
                <a:solidFill>
                  <a:schemeClr val="tx2"/>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6303822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1158</Words>
  <Application>Microsoft Office PowerPoint</Application>
  <PresentationFormat>Widescreen</PresentationFormat>
  <Paragraphs>120</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HP</dc:creator>
  <cp:keywords/>
  <dc:description>generated using python-pptx</dc:description>
  <cp:lastModifiedBy>Anzar Eqbal</cp:lastModifiedBy>
  <cp:revision>4</cp:revision>
  <dcterms:created xsi:type="dcterms:W3CDTF">2013-01-27T09:14:16Z</dcterms:created>
  <dcterms:modified xsi:type="dcterms:W3CDTF">2026-10-13T06:00:34Z</dcterms:modified>
  <cp:category/>
</cp:coreProperties>
</file>