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87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minutes. No trainable classifier is fitted; TF-IDF is used only to select demonstrations. Explain macro averaging: each class gets equal weight. Output parsing maps category names to IDs, and invalid outputs are counted 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rPr dirty="0"/>
              <a:t>PROMPTEVAL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Evaluating the effect of demonstration relevance on LLM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4F7FD"/>
                </a:solidFill>
                <a:latin typeface="Aptos"/>
              </a:defRPr>
            </a:pPr>
            <a:r>
              <a:rPr dirty="0"/>
              <a:t>Zero-Shot vs Good Few-Shot vs Poor Few-Shot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3108960"/>
            <a:ext cx="5852160" cy="548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3685032"/>
            <a:ext cx="914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0B0CA"/>
                </a:solidFill>
                <a:latin typeface="Aptos"/>
              </a:defRPr>
            </a:pPr>
            <a:r>
              <a:rPr dirty="0" err="1"/>
              <a:t>M.Tech</a:t>
            </a:r>
            <a:r>
              <a:rPr dirty="0"/>
              <a:t> </a:t>
            </a:r>
            <a:r>
              <a:rPr lang="en-IN" dirty="0"/>
              <a:t>(AI&amp;ML)</a:t>
            </a:r>
            <a:r>
              <a:rPr dirty="0"/>
              <a:t>  |  BIT </a:t>
            </a:r>
            <a:r>
              <a:rPr dirty="0" err="1"/>
              <a:t>Mesra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04672" y="4343400"/>
            <a:ext cx="9144000" cy="10413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7FD"/>
                </a:solidFill>
                <a:latin typeface="Aptos"/>
              </a:defRPr>
            </a:pPr>
            <a:r>
              <a:rPr dirty="0"/>
              <a:t>Presented by: </a:t>
            </a:r>
            <a:endParaRPr lang="en-IN" dirty="0"/>
          </a:p>
          <a:p>
            <a:pPr>
              <a:spcAft>
                <a:spcPts val="1000"/>
              </a:spcAft>
              <a:defRPr sz="1700" b="0">
                <a:solidFill>
                  <a:srgbClr val="F4F7FD"/>
                </a:solidFill>
                <a:latin typeface="Aptos"/>
              </a:defRPr>
            </a:pPr>
            <a:r>
              <a:rPr lang="en-IN" dirty="0"/>
              <a:t>			ANZAR EQBAL(MT/AI/10002/26), </a:t>
            </a:r>
          </a:p>
          <a:p>
            <a:pPr>
              <a:spcAft>
                <a:spcPts val="1000"/>
              </a:spcAft>
              <a:defRPr sz="1700" b="0">
                <a:solidFill>
                  <a:srgbClr val="F4F7FD"/>
                </a:solidFill>
                <a:latin typeface="Aptos"/>
              </a:defRPr>
            </a:pPr>
            <a:r>
              <a:rPr lang="en-IN" dirty="0"/>
              <a:t>			MD SARTAJ HUSSAIN(MT/AI/10018/26)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01  | 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Text classification is common; labeled data and retraining resources are not always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3429000" cy="342900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865376"/>
            <a:ext cx="59436" cy="338328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181051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Where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289864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0B0CA"/>
                </a:solidFill>
                <a:latin typeface="Aptos"/>
              </a:defRPr>
            </a:pPr>
            <a:r>
              <a:t>Customer-review sentiment</a:t>
            </a:r>
          </a:p>
          <a:p>
            <a:pPr>
              <a:spcAft>
                <a:spcPts val="1000"/>
              </a:spcAft>
              <a:defRPr sz="2000" b="0">
                <a:solidFill>
                  <a:srgbClr val="A0B0CA"/>
                </a:solidFill>
                <a:latin typeface="Aptos"/>
              </a:defRPr>
            </a:pPr>
            <a:r>
              <a:t>News topic tagging</a:t>
            </a:r>
          </a:p>
          <a:p>
            <a:pPr>
              <a:spcAft>
                <a:spcPts val="1000"/>
              </a:spcAft>
              <a:defRPr sz="2000" b="0">
                <a:solidFill>
                  <a:srgbClr val="A0B0CA"/>
                </a:solidFill>
                <a:latin typeface="Aptos"/>
              </a:defRPr>
            </a:pPr>
            <a:r>
              <a:t>Support-ticket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27632"/>
            <a:ext cx="3429000" cy="342900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81144" y="1865376"/>
            <a:ext cx="59436" cy="338328"/>
          </a:xfrm>
          <a:prstGeom prst="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82312" y="181051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The practical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450592"/>
            <a:ext cx="289864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0B0CA"/>
                </a:solidFill>
                <a:latin typeface="Aptos"/>
              </a:defRPr>
            </a:pPr>
            <a:r>
              <a:t>How can we classify text with a pretrained LLM, without task-specific fine-tuning?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27632"/>
            <a:ext cx="3429000" cy="342900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47888" y="1865376"/>
            <a:ext cx="59436" cy="338328"/>
          </a:xfrm>
          <a:prstGeom prst="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181051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50592"/>
            <a:ext cx="289864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0B0CA"/>
                </a:solidFill>
                <a:latin typeface="Aptos"/>
              </a:defRPr>
            </a:pPr>
            <a:r>
              <a:t>Change only the prompt strategy, then compare predictions on the same held-out texts.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02  |  Research question &amp;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Does the relevance of few-shot demonstrations improve classification performance?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120640" cy="36118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24128" y="1883664"/>
            <a:ext cx="59436" cy="338328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1828800"/>
            <a:ext cx="4526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7FD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459028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0B0CA"/>
                </a:solidFill>
                <a:latin typeface="Aptos"/>
              </a:defRPr>
            </a:pPr>
            <a:r>
              <a:t>How do zero-shot, highly relevant few-shot, and low-relevance few-shot prompts compare on IMDb and AG News?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5120640" cy="36118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883664"/>
            <a:ext cx="59436" cy="338328"/>
          </a:xfrm>
          <a:prstGeom prst="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828800"/>
            <a:ext cx="4526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7FD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68880"/>
            <a:ext cx="459028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A0B0CA"/>
                </a:solidFill>
                <a:latin typeface="Aptos"/>
              </a:defRPr>
            </a:pPr>
            <a:r>
              <a:t>Good Few-Shot will generally outperform Poor Few-Shot and Zero-Shot, especially for more ambiguous, multi-class 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1441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ADBA7"/>
                </a:solidFill>
                <a:latin typeface="Aptos"/>
              </a:defRPr>
            </a:pPr>
            <a:r>
              <a:t>Evaluation criteria: Accuracy  •  Macro-Precision  •  Macro-Recall  •  Macro-F1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03  | 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Two standard English text-classification benchmarks, with different levels of class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356616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24128" y="1929384"/>
            <a:ext cx="59436" cy="338328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1874520"/>
            <a:ext cx="4526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IMDb — 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459028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2 classes: Negative / Positive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25,000 training reviews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25,000 test reviews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100 sampled test reviews in our experiment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20640" cy="356616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19088" y="1929384"/>
            <a:ext cx="59436" cy="338328"/>
          </a:xfrm>
          <a:prstGeom prst="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0256" y="1874520"/>
            <a:ext cx="4526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AG News — 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59028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4 classes: World / Sports / Business / Sci/Tech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120,000 training articles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7,600 test articles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100 sampled test articles in our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102412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ADBA7"/>
                </a:solidFill>
                <a:latin typeface="Aptos"/>
              </a:defRPr>
            </a:pPr>
            <a:r>
              <a:t>Training split → demonstration candidates   |   Test split → evaluation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04  |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All three strategies use the same task instructions, class labels, test samples and 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090672" cy="333756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3DD5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1518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7FD"/>
                </a:solidFill>
                <a:latin typeface="Aptos"/>
              </a:defRPr>
            </a:pPr>
            <a:r>
              <a:t>Zero-Shot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310128"/>
            <a:ext cx="26517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Task instructions + input text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No demonstrations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691640"/>
            <a:ext cx="3090672" cy="333756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1874519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5ADBA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61518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7FD"/>
                </a:solidFill>
                <a:latin typeface="Aptos"/>
              </a:defRPr>
            </a:pPr>
            <a:r>
              <a:t>Good Few-Shot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310128"/>
            <a:ext cx="26517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Highest TF-IDF cosine similarity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1 correctly labeled example / 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1691640"/>
            <a:ext cx="3090672" cy="333756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1874519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B36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61518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7FD"/>
                </a:solidFill>
                <a:latin typeface="Aptos"/>
              </a:defRPr>
            </a:pPr>
            <a:r>
              <a:t>Poor Few-Shot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310128"/>
            <a:ext cx="265176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Lowest TF-IDF cosine similarity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1 correctly labeled example /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413248"/>
            <a:ext cx="1060704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4F7FD"/>
                </a:solidFill>
                <a:latin typeface="Aptos"/>
              </a:defRPr>
            </a:pPr>
            <a:r>
              <a:t>TF-IDF ranks candidate training texts per test item and per class; original labels are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05  | 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Controlled comparison on a local model; no model fine-tuning.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52044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2688" y="1883664"/>
            <a:ext cx="59436" cy="338328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" y="182880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Model and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681728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Ollama • qwen2.5:3b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Local inference on a 16 GB RAM machine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Fixed random seed: 42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Same 100 test samples per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5212080" cy="352044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1883664"/>
            <a:ext cx="59436" cy="338328"/>
          </a:xfrm>
          <a:prstGeom prst="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D"/>
                </a:solidFill>
                <a:latin typeface="Aptos"/>
              </a:defRPr>
            </a:pPr>
            <a:r>
              <a:t>Evaluation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68880"/>
            <a:ext cx="4681728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3 strategies × 2 datasets × 100 texts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600 model calls in total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Invalid output counts as incorrect</a:t>
            </a:r>
          </a:p>
          <a:p>
            <a:pPr>
              <a:spcAft>
                <a:spcPts val="1000"/>
              </a:spcAft>
              <a:defRPr sz="1900" b="0">
                <a:solidFill>
                  <a:srgbClr val="A0B0CA"/>
                </a:solidFill>
                <a:latin typeface="Aptos"/>
              </a:defRPr>
            </a:pPr>
            <a:r>
              <a:t>Report accuracy and macro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52297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ADBA7"/>
                </a:solidFill>
                <a:latin typeface="Aptos"/>
              </a:defRPr>
            </a:pPr>
            <a:r>
              <a:t>Implementation: Python  •  Streamlit  •  scikit-learn  •  Hugging Face Datasets  •  Ollama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06  |  Results: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Good Few-Shot improved on Zero-Shot in both datasets; relevance mattered more on AG News.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D"/>
                </a:solidFill>
                <a:latin typeface="Aptos"/>
              </a:defRPr>
            </a:pPr>
            <a:r>
              <a:t>IMDb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83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267712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68880" y="2267712"/>
            <a:ext cx="2229307" cy="411480"/>
          </a:xfrm>
          <a:prstGeom prst="round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27614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F7FD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783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67712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94960" y="2267712"/>
            <a:ext cx="2302002" cy="411480"/>
          </a:xfrm>
          <a:prstGeom prst="roundRect">
            <a:avLst/>
          </a:prstGeom>
          <a:solidFill>
            <a:srgbClr val="5A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9208" y="27614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F7F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Poor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267712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2267712"/>
            <a:ext cx="2302002" cy="411480"/>
          </a:xfrm>
          <a:prstGeom prst="round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05288" y="27614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F7FD"/>
                </a:solidFill>
                <a:latin typeface="Aptos"/>
              </a:defRPr>
            </a:pPr>
            <a: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32504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D"/>
                </a:solidFill>
                <a:latin typeface="Aptos"/>
              </a:defRPr>
            </a:pPr>
            <a:r>
              <a:t>AG 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66674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151376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68880" y="4151376"/>
            <a:ext cx="1647748" cy="411480"/>
          </a:xfrm>
          <a:prstGeom prst="round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46451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F7FD"/>
                </a:solidFill>
                <a:latin typeface="Aptos"/>
              </a:defRPr>
            </a:pPr>
            <a:r>
              <a:t>68%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66674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4151376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394960" y="4151376"/>
            <a:ext cx="1890064" cy="411480"/>
          </a:xfrm>
          <a:prstGeom prst="roundRect">
            <a:avLst/>
          </a:prstGeom>
          <a:solidFill>
            <a:srgbClr val="5A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79208" y="46451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F7FD"/>
                </a:solidFill>
                <a:latin typeface="Aptos"/>
              </a:defRPr>
            </a:pPr>
            <a:r>
              <a:t>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6674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Poor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151376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21040" y="4151376"/>
            <a:ext cx="1671980" cy="411480"/>
          </a:xfrm>
          <a:prstGeom prst="round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05288" y="46451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4F7FD"/>
                </a:solidFill>
                <a:latin typeface="Aptos"/>
              </a:defRPr>
            </a:pPr>
            <a:r>
              <a:t>69%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A0B0CA"/>
                </a:solidFill>
                <a:latin typeface="Aptos"/>
              </a:defRPr>
            </a:pPr>
            <a:r>
              <a:t>Accuracy, n = 100 per dataset per strategy  •  Results from latest_summary(3).csv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07  |  Results: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Macro-F1 helps reveal class-level performance beyond overall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048255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D"/>
                </a:solidFill>
                <a:latin typeface="Aptos"/>
              </a:defRPr>
            </a:pPr>
            <a:r>
              <a:t>IMDb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099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185416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68880" y="2185416"/>
            <a:ext cx="2229064" cy="411480"/>
          </a:xfrm>
          <a:prstGeom prst="round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D"/>
                </a:solidFill>
                <a:latin typeface="Aptos"/>
              </a:defRPr>
            </a:pPr>
            <a:r>
              <a:t>91.99%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7099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185416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94960" y="2185416"/>
            <a:ext cx="2302002" cy="411480"/>
          </a:xfrm>
          <a:prstGeom prst="roundRect">
            <a:avLst/>
          </a:prstGeom>
          <a:solidFill>
            <a:srgbClr val="5A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69748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D"/>
                </a:solidFill>
                <a:latin typeface="Aptos"/>
              </a:defRPr>
            </a:pPr>
            <a:r>
              <a:t>95.00%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099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Poor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85416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2185416"/>
            <a:ext cx="2302002" cy="411480"/>
          </a:xfrm>
          <a:prstGeom prst="round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0" y="269748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D"/>
                </a:solidFill>
                <a:latin typeface="Aptos"/>
              </a:defRPr>
            </a:pPr>
            <a:r>
              <a:t>95.00%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9227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D"/>
                </a:solidFill>
                <a:latin typeface="Aptos"/>
              </a:defRPr>
            </a:pPr>
            <a:r>
              <a:t>AG 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5844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059935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68880" y="4059935"/>
            <a:ext cx="1628848" cy="411480"/>
          </a:xfrm>
          <a:prstGeom prst="round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0" y="457200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D"/>
                </a:solidFill>
                <a:latin typeface="Aptos"/>
              </a:defRPr>
            </a:pPr>
            <a:r>
              <a:t>67.22%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5844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4059935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394960" y="4059935"/>
            <a:ext cx="1845963" cy="411480"/>
          </a:xfrm>
          <a:prstGeom prst="roundRect">
            <a:avLst/>
          </a:prstGeom>
          <a:solidFill>
            <a:srgbClr val="5A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457200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D"/>
                </a:solidFill>
                <a:latin typeface="Aptos"/>
              </a:defRPr>
            </a:pPr>
            <a:r>
              <a:t>76.18%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844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Poor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059935"/>
            <a:ext cx="2423160" cy="4114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21040" y="4059935"/>
            <a:ext cx="1489274" cy="411480"/>
          </a:xfrm>
          <a:prstGeom prst="round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0" y="457200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D"/>
                </a:solidFill>
                <a:latin typeface="Aptos"/>
              </a:defRPr>
            </a:pPr>
            <a:r>
              <a:t>61.46%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852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ADBA7"/>
                </a:solidFill>
                <a:latin typeface="Aptos"/>
              </a:defRPr>
            </a:pPr>
            <a:r>
              <a:t>AG News: Poor Few-Shot accuracy = 69%, but macro-F1 ≈ 61.46% → uneven class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08  |  Interesting &amp; failure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Identical aggregate IMDb scores hid four different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4944" y="1664208"/>
            <a:ext cx="5212080" cy="36118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1901952"/>
            <a:ext cx="59436" cy="338328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470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4F7FD"/>
                </a:solidFill>
                <a:latin typeface="Aptos"/>
              </a:defRPr>
            </a:pPr>
            <a:r>
              <a:t>IMDb: same 95%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468172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96 / 100 predictions matched.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4 differed: samples 57, 58, 61, 100.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Good was right on 57 and 58; Poor on 61 and 100.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Both made 5 errors overall.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64208"/>
            <a:ext cx="5212080" cy="361188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901952"/>
            <a:ext cx="59436" cy="338328"/>
          </a:xfrm>
          <a:prstGeom prst="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8470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4F7FD"/>
                </a:solidFill>
                <a:latin typeface="Aptos"/>
              </a:defRPr>
            </a:pPr>
            <a:r>
              <a:t>AG News: ambiguity &amp; invalid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87168"/>
            <a:ext cx="468172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Example: a Cisco acquisition story was labeled Sci/Tech but Poor Few-Shot predicted Business.</a:t>
            </a:r>
          </a:p>
          <a:p>
            <a:pPr>
              <a:spcAft>
                <a:spcPts val="1000"/>
              </a:spcAft>
              <a:defRPr sz="1800" b="0">
                <a:solidFill>
                  <a:srgbClr val="A0B0CA"/>
                </a:solidFill>
                <a:latin typeface="Aptos"/>
              </a:defRPr>
            </a:pPr>
            <a:r>
              <a:t>Invalid outputs: Zero 6, Good 3, Poor 1 (of 100 each).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144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ADBA7"/>
                </a:solidFill>
                <a:latin typeface="Aptos"/>
              </a:defRPr>
            </a:pPr>
            <a:r>
              <a:t>Takeaway: compare individual predictions and class-wise metrics, not only headline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109728" cy="512064"/>
          </a:xfrm>
          <a:prstGeom prst="rect">
            <a:avLst/>
          </a:prstGeom>
          <a:solidFill>
            <a:srgbClr val="3D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D"/>
                </a:solidFill>
                <a:latin typeface="Aptos"/>
              </a:defRPr>
            </a:pPr>
            <a:r>
              <a:t>09  |  Conclusion,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60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0B0CA"/>
                </a:solidFill>
                <a:latin typeface="Aptos"/>
              </a:defRPr>
            </a:pPr>
            <a:r>
              <a:t>Prompt example relevance can help, but benefits depend on the dataset and evaluation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0C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36792"/>
            <a:ext cx="10789920" cy="16459"/>
          </a:xfrm>
          <a:prstGeom prst="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4944" y="1600200"/>
            <a:ext cx="3474720" cy="411480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1837943"/>
            <a:ext cx="59436" cy="338328"/>
          </a:xfrm>
          <a:prstGeom prst="rect">
            <a:avLst/>
          </a:prstGeom>
          <a:solidFill>
            <a:srgbClr val="5AD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D"/>
                </a:solidFill>
                <a:latin typeface="Aptos"/>
              </a:defRPr>
            </a:pPr>
            <a:r>
              <a:t>Key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23160"/>
            <a:ext cx="2944368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Good Few-Shot: best AG News accuracy (78%).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IMDb: both few-shot strategies reached 95%.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Identical metrics ≠ identical predictions.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600200"/>
            <a:ext cx="3474720" cy="411480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62855" y="1837943"/>
            <a:ext cx="59436" cy="338328"/>
          </a:xfrm>
          <a:prstGeom prst="rect">
            <a:avLst/>
          </a:prstGeom>
          <a:solidFill>
            <a:srgbClr val="FFB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78308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23160"/>
            <a:ext cx="2944368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Only 100 test texts per dataset.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One random seed and one local LLM.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TF-IDF captures lexical, not semantic, relevance.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Output-format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600200"/>
            <a:ext cx="3474720" cy="4114800"/>
          </a:xfrm>
          <a:prstGeom prst="roundRect">
            <a:avLst/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837943"/>
            <a:ext cx="59436" cy="338328"/>
          </a:xfrm>
          <a:prstGeom prst="rect">
            <a:avLst/>
          </a:prstGeom>
          <a:solidFill>
            <a:srgbClr val="5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7" y="178308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D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23160"/>
            <a:ext cx="2944368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Repeat across seeds and larger samples.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Test semantic embeddings and more shot counts.</a:t>
            </a:r>
          </a:p>
          <a:p>
            <a:pPr>
              <a:spcAft>
                <a:spcPts val="1000"/>
              </a:spcAft>
              <a:defRPr sz="1700" b="0">
                <a:solidFill>
                  <a:srgbClr val="A0B0CA"/>
                </a:solidFill>
                <a:latin typeface="Aptos"/>
              </a:defRPr>
            </a:pPr>
            <a:r>
              <a:t>Add confusion matrices, confidence intervals and error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096669"/>
            <a:ext cx="109115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66360"/>
            <a:ext cx="109115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 err="1">
                <a:solidFill>
                  <a:srgbClr val="C2CBDB"/>
                </a:solidFill>
              </a:rPr>
              <a:t>PromptEval</a:t>
            </a:r>
            <a:r>
              <a:rPr sz="1500" b="0" dirty="0">
                <a:solidFill>
                  <a:srgbClr val="C2CBDB"/>
                </a:solidFill>
              </a:rPr>
              <a:t>  |  Zero-Shot vs Good Few-Shot vs Poor Few-Shot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0135" y="63825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2CBDB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813</Words>
  <Application>Microsoft Office PowerPoint</Application>
  <PresentationFormat>Widescreen</PresentationFormat>
  <Paragraphs>139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Anzar Eqbal</cp:lastModifiedBy>
  <cp:revision>3</cp:revision>
  <dcterms:created xsi:type="dcterms:W3CDTF">2013-01-27T09:14:16Z</dcterms:created>
  <dcterms:modified xsi:type="dcterms:W3CDTF">2026-10-19T18:02:55Z</dcterms:modified>
  <cp:category/>
</cp:coreProperties>
</file>