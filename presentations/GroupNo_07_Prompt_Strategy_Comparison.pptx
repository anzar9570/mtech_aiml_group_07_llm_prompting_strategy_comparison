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47" d="100"/>
          <a:sy n="47" d="100"/>
        </p:scale>
        <p:origin x="1027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870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47472"/>
            <a:ext cx="109728" cy="512064"/>
          </a:xfrm>
          <a:prstGeom prst="rect">
            <a:avLst/>
          </a:prstGeom>
          <a:solidFill>
            <a:srgbClr val="3D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67512" y="320040"/>
            <a:ext cx="1005840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3000" b="1">
                <a:solidFill>
                  <a:srgbClr val="F4F7FD"/>
                </a:solidFill>
                <a:latin typeface="Aptos"/>
              </a:defRPr>
            </a:pPr>
            <a:r>
              <a:rPr dirty="0"/>
              <a:t>PROMPTEVAL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96012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A0B0CA"/>
                </a:solidFill>
                <a:latin typeface="Aptos"/>
              </a:defRPr>
            </a:pPr>
            <a:r>
              <a:t>Evaluating the effect of demonstration relevance on LLM text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A0B0CA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36792"/>
            <a:ext cx="10789920" cy="16459"/>
          </a:xfrm>
          <a:prstGeom prst="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F4F7FD"/>
                </a:solidFill>
                <a:latin typeface="Aptos"/>
              </a:defRPr>
            </a:pPr>
            <a:r>
              <a:rPr dirty="0"/>
              <a:t>Zero-Shot vs Good Few-Shot vs Poor Few-Shot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8" y="3108960"/>
            <a:ext cx="5852160" cy="54864"/>
          </a:xfrm>
          <a:prstGeom prst="rect">
            <a:avLst/>
          </a:prstGeom>
          <a:solidFill>
            <a:srgbClr val="3D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3685032"/>
            <a:ext cx="9144000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A0B0CA"/>
                </a:solidFill>
                <a:latin typeface="Aptos"/>
              </a:defRPr>
            </a:pPr>
            <a:r>
              <a:rPr dirty="0" err="1"/>
              <a:t>M.Tech</a:t>
            </a:r>
            <a:r>
              <a:rPr dirty="0"/>
              <a:t> </a:t>
            </a:r>
            <a:r>
              <a:rPr lang="en-IN" dirty="0"/>
              <a:t>(AI&amp;ML)</a:t>
            </a:r>
            <a:r>
              <a:rPr dirty="0"/>
              <a:t>  |  BIT </a:t>
            </a:r>
            <a:r>
              <a:rPr dirty="0" err="1"/>
              <a:t>Mesra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804672" y="4343400"/>
            <a:ext cx="9144000" cy="10413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F4F7FD"/>
                </a:solidFill>
                <a:latin typeface="Aptos"/>
              </a:defRPr>
            </a:pPr>
            <a:r>
              <a:rPr dirty="0"/>
              <a:t>Presented by: </a:t>
            </a:r>
            <a:endParaRPr lang="en-IN" dirty="0"/>
          </a:p>
          <a:p>
            <a:pPr>
              <a:spcAft>
                <a:spcPts val="1000"/>
              </a:spcAft>
              <a:defRPr sz="1700" b="0">
                <a:solidFill>
                  <a:srgbClr val="F4F7FD"/>
                </a:solidFill>
                <a:latin typeface="Aptos"/>
              </a:defRPr>
            </a:pPr>
            <a:r>
              <a:rPr lang="en-IN" dirty="0"/>
              <a:t>			ANZAR EQBAL(MT/AI/10002/26), </a:t>
            </a:r>
          </a:p>
          <a:p>
            <a:pPr>
              <a:spcAft>
                <a:spcPts val="1000"/>
              </a:spcAft>
              <a:defRPr sz="1700" b="0">
                <a:solidFill>
                  <a:srgbClr val="F4F7FD"/>
                </a:solidFill>
                <a:latin typeface="Aptos"/>
              </a:defRPr>
            </a:pPr>
            <a:r>
              <a:rPr lang="en-IN" dirty="0"/>
              <a:t>			MD SARTAJ HUSSAIN(MT/AI/10018/26)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47472"/>
            <a:ext cx="109728" cy="512064"/>
          </a:xfrm>
          <a:prstGeom prst="rect">
            <a:avLst/>
          </a:prstGeom>
          <a:solidFill>
            <a:srgbClr val="3D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67512" y="320040"/>
            <a:ext cx="1005840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3000" b="1">
                <a:solidFill>
                  <a:srgbClr val="F4F7FD"/>
                </a:solidFill>
                <a:latin typeface="Aptos"/>
              </a:defRPr>
            </a:pPr>
            <a:r>
              <a:t>01  |  Real-world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96012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A0B0CA"/>
                </a:solidFill>
                <a:latin typeface="Aptos"/>
              </a:defRPr>
            </a:pPr>
            <a:r>
              <a:t>Text classification is common; labeled data and retraining resources are not always available.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A0B0CA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36792"/>
            <a:ext cx="10789920" cy="16459"/>
          </a:xfrm>
          <a:prstGeom prst="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" y="1627632"/>
            <a:ext cx="3429000" cy="3429000"/>
          </a:xfrm>
          <a:prstGeom prst="round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14400" y="1865376"/>
            <a:ext cx="59436" cy="338328"/>
          </a:xfrm>
          <a:prstGeom prst="rect">
            <a:avLst/>
          </a:prstGeom>
          <a:solidFill>
            <a:srgbClr val="3D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15568" y="181051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100" b="1">
                <a:solidFill>
                  <a:srgbClr val="F4F7FD"/>
                </a:solidFill>
                <a:latin typeface="Aptos"/>
              </a:defRPr>
            </a:pPr>
            <a:r>
              <a:t>Where it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2898648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A0B0CA"/>
                </a:solidFill>
                <a:latin typeface="Aptos"/>
              </a:defRPr>
            </a:pPr>
            <a:r>
              <a:t>Customer-review sentiment</a:t>
            </a:r>
          </a:p>
          <a:p>
            <a:pPr>
              <a:spcAft>
                <a:spcPts val="1000"/>
              </a:spcAft>
              <a:defRPr sz="2000" b="0">
                <a:solidFill>
                  <a:srgbClr val="A0B0CA"/>
                </a:solidFill>
                <a:latin typeface="Aptos"/>
              </a:defRPr>
            </a:pPr>
            <a:r>
              <a:t>News topic tagging</a:t>
            </a:r>
          </a:p>
          <a:p>
            <a:pPr>
              <a:spcAft>
                <a:spcPts val="1000"/>
              </a:spcAft>
              <a:defRPr sz="2000" b="0">
                <a:solidFill>
                  <a:srgbClr val="A0B0CA"/>
                </a:solidFill>
                <a:latin typeface="Aptos"/>
              </a:defRPr>
            </a:pPr>
            <a:r>
              <a:t>Support-ticket routing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627632"/>
            <a:ext cx="3429000" cy="3429000"/>
          </a:xfrm>
          <a:prstGeom prst="round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81144" y="1865376"/>
            <a:ext cx="59436" cy="338328"/>
          </a:xfrm>
          <a:prstGeom prst="rect">
            <a:avLst/>
          </a:prstGeom>
          <a:solidFill>
            <a:srgbClr val="5C8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82312" y="181051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100" b="1">
                <a:solidFill>
                  <a:srgbClr val="F4F7FD"/>
                </a:solidFill>
                <a:latin typeface="Aptos"/>
              </a:defRPr>
            </a:pPr>
            <a:r>
              <a:t>The practical challenge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450592"/>
            <a:ext cx="2898648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A0B0CA"/>
                </a:solidFill>
                <a:latin typeface="Aptos"/>
              </a:defRPr>
            </a:pPr>
            <a:r>
              <a:t>How can we classify text with a pretrained LLM, without task-specific fine-tuning?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27632"/>
            <a:ext cx="3429000" cy="3429000"/>
          </a:xfrm>
          <a:prstGeom prst="round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47888" y="1865376"/>
            <a:ext cx="59436" cy="338328"/>
          </a:xfrm>
          <a:prstGeom prst="rect">
            <a:avLst/>
          </a:prstGeom>
          <a:solidFill>
            <a:srgbClr val="FFB3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49056" y="181051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100" b="1">
                <a:solidFill>
                  <a:srgbClr val="F4F7FD"/>
                </a:solidFill>
                <a:latin typeface="Aptos"/>
              </a:defRPr>
            </a:pPr>
            <a:r>
              <a:t>Our approach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450592"/>
            <a:ext cx="2898648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A0B0CA"/>
                </a:solidFill>
                <a:latin typeface="Aptos"/>
              </a:defRPr>
            </a:pPr>
            <a:r>
              <a:t>Change only the prompt strategy, then compare predictions on the same held-out texts.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47472"/>
            <a:ext cx="109728" cy="512064"/>
          </a:xfrm>
          <a:prstGeom prst="rect">
            <a:avLst/>
          </a:prstGeom>
          <a:solidFill>
            <a:srgbClr val="3D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67512" y="320040"/>
            <a:ext cx="1005840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3000" b="1">
                <a:solidFill>
                  <a:srgbClr val="F4F7FD"/>
                </a:solidFill>
                <a:latin typeface="Aptos"/>
              </a:defRPr>
            </a:pPr>
            <a:r>
              <a:t>02  |  Research question &amp; hypothesis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96012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A0B0CA"/>
                </a:solidFill>
                <a:latin typeface="Aptos"/>
              </a:defRPr>
            </a:pPr>
            <a:r>
              <a:t>Does the relevance of few-shot demonstrations improve classification performance?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A0B0CA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36792"/>
            <a:ext cx="10789920" cy="16459"/>
          </a:xfrm>
          <a:prstGeom prst="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5120640" cy="3611880"/>
          </a:xfrm>
          <a:prstGeom prst="round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24128" y="1883664"/>
            <a:ext cx="59436" cy="338328"/>
          </a:xfrm>
          <a:prstGeom prst="rect">
            <a:avLst/>
          </a:prstGeom>
          <a:solidFill>
            <a:srgbClr val="3D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25296" y="1828800"/>
            <a:ext cx="452627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F4F7FD"/>
                </a:solidFill>
                <a:latin typeface="Aptos"/>
              </a:defRPr>
            </a:pPr>
            <a:r>
              <a:t>Research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468880"/>
            <a:ext cx="4590288" cy="2697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A0B0CA"/>
                </a:solidFill>
                <a:latin typeface="Aptos"/>
              </a:defRPr>
            </a:pPr>
            <a:r>
              <a:t>How do zero-shot, highly relevant few-shot, and low-relevance few-shot prompts compare on IMDb and AG News?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645920"/>
            <a:ext cx="5120640" cy="3611880"/>
          </a:xfrm>
          <a:prstGeom prst="round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0" y="1883664"/>
            <a:ext cx="59436" cy="338328"/>
          </a:xfrm>
          <a:prstGeom prst="rect">
            <a:avLst/>
          </a:prstGeom>
          <a:solidFill>
            <a:srgbClr val="FFB3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01968" y="1828800"/>
            <a:ext cx="452627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F4F7FD"/>
                </a:solidFill>
                <a:latin typeface="Aptos"/>
              </a:defRPr>
            </a:pPr>
            <a:r>
              <a:t>Hypothesis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2468880"/>
            <a:ext cx="4590288" cy="2697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A0B0CA"/>
                </a:solidFill>
                <a:latin typeface="Aptos"/>
              </a:defRPr>
            </a:pPr>
            <a:r>
              <a:t>Good Few-Shot will generally outperform Poor Few-Shot and Zero-Shot, especially for more ambiguous, multi-class texts.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614416"/>
            <a:ext cx="10424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5ADBA7"/>
                </a:solidFill>
                <a:latin typeface="Aptos"/>
              </a:defRPr>
            </a:pPr>
            <a:r>
              <a:t>Evaluation criteria: Accuracy  •  Macro-Precision  •  Macro-Recall  •  Macro-F1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47472"/>
            <a:ext cx="109728" cy="512064"/>
          </a:xfrm>
          <a:prstGeom prst="rect">
            <a:avLst/>
          </a:prstGeom>
          <a:solidFill>
            <a:srgbClr val="3D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67512" y="320040"/>
            <a:ext cx="1005840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3000" b="1">
                <a:solidFill>
                  <a:srgbClr val="F4F7FD"/>
                </a:solidFill>
                <a:latin typeface="Aptos"/>
              </a:defRPr>
            </a:pPr>
            <a:r>
              <a:t>03  | 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96012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A0B0CA"/>
                </a:solidFill>
                <a:latin typeface="Aptos"/>
              </a:defRPr>
            </a:pPr>
            <a:r>
              <a:t>Two standard English text-classification benchmarks, with different levels of class complexity.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A0B0CA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36792"/>
            <a:ext cx="10789920" cy="16459"/>
          </a:xfrm>
          <a:prstGeom prst="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1691640"/>
            <a:ext cx="5120640" cy="3566160"/>
          </a:xfrm>
          <a:prstGeom prst="round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24128" y="1929384"/>
            <a:ext cx="59436" cy="338328"/>
          </a:xfrm>
          <a:prstGeom prst="rect">
            <a:avLst/>
          </a:prstGeom>
          <a:solidFill>
            <a:srgbClr val="3D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25296" y="1874520"/>
            <a:ext cx="452627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100" b="1">
                <a:solidFill>
                  <a:srgbClr val="F4F7FD"/>
                </a:solidFill>
                <a:latin typeface="Aptos"/>
              </a:defRPr>
            </a:pPr>
            <a:r>
              <a:t>IMDb — sentiment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514600"/>
            <a:ext cx="4590288" cy="2651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A0B0CA"/>
                </a:solidFill>
                <a:latin typeface="Aptos"/>
              </a:defRPr>
            </a:pPr>
            <a:r>
              <a:t>2 classes: Negative / Positive</a:t>
            </a:r>
          </a:p>
          <a:p>
            <a:pPr>
              <a:spcAft>
                <a:spcPts val="1000"/>
              </a:spcAft>
              <a:defRPr sz="1900" b="0">
                <a:solidFill>
                  <a:srgbClr val="A0B0CA"/>
                </a:solidFill>
                <a:latin typeface="Aptos"/>
              </a:defRPr>
            </a:pPr>
            <a:r>
              <a:t>25,000 training reviews</a:t>
            </a:r>
          </a:p>
          <a:p>
            <a:pPr>
              <a:spcAft>
                <a:spcPts val="1000"/>
              </a:spcAft>
              <a:defRPr sz="1900" b="0">
                <a:solidFill>
                  <a:srgbClr val="A0B0CA"/>
                </a:solidFill>
                <a:latin typeface="Aptos"/>
              </a:defRPr>
            </a:pPr>
            <a:r>
              <a:t>25,000 test reviews</a:t>
            </a:r>
          </a:p>
          <a:p>
            <a:pPr>
              <a:spcAft>
                <a:spcPts val="1000"/>
              </a:spcAft>
              <a:defRPr sz="1900" b="0">
                <a:solidFill>
                  <a:srgbClr val="A0B0CA"/>
                </a:solidFill>
                <a:latin typeface="Aptos"/>
              </a:defRPr>
            </a:pPr>
            <a:r>
              <a:t>100 sampled test reviews in our experiment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91640"/>
            <a:ext cx="5120640" cy="3566160"/>
          </a:xfrm>
          <a:prstGeom prst="round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19088" y="1929384"/>
            <a:ext cx="59436" cy="338328"/>
          </a:xfrm>
          <a:prstGeom prst="rect">
            <a:avLst/>
          </a:prstGeom>
          <a:solidFill>
            <a:srgbClr val="5C8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20256" y="1874520"/>
            <a:ext cx="452627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100" b="1">
                <a:solidFill>
                  <a:srgbClr val="F4F7FD"/>
                </a:solidFill>
                <a:latin typeface="Aptos"/>
              </a:defRPr>
            </a:pPr>
            <a:r>
              <a:t>AG News — topic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14600"/>
            <a:ext cx="4590288" cy="2651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A0B0CA"/>
                </a:solidFill>
                <a:latin typeface="Aptos"/>
              </a:defRPr>
            </a:pPr>
            <a:r>
              <a:t>4 classes: World / Sports / Business / Sci/Tech</a:t>
            </a:r>
          </a:p>
          <a:p>
            <a:pPr>
              <a:spcAft>
                <a:spcPts val="1000"/>
              </a:spcAft>
              <a:defRPr sz="1900" b="0">
                <a:solidFill>
                  <a:srgbClr val="A0B0CA"/>
                </a:solidFill>
                <a:latin typeface="Aptos"/>
              </a:defRPr>
            </a:pPr>
            <a:r>
              <a:t>120,000 training articles</a:t>
            </a:r>
          </a:p>
          <a:p>
            <a:pPr>
              <a:spcAft>
                <a:spcPts val="1000"/>
              </a:spcAft>
              <a:defRPr sz="1900" b="0">
                <a:solidFill>
                  <a:srgbClr val="A0B0CA"/>
                </a:solidFill>
                <a:latin typeface="Aptos"/>
              </a:defRPr>
            </a:pPr>
            <a:r>
              <a:t>7,600 test articles</a:t>
            </a:r>
          </a:p>
          <a:p>
            <a:pPr>
              <a:spcAft>
                <a:spcPts val="1000"/>
              </a:spcAft>
              <a:defRPr sz="1900" b="0">
                <a:solidFill>
                  <a:srgbClr val="A0B0CA"/>
                </a:solidFill>
                <a:latin typeface="Aptos"/>
              </a:defRPr>
            </a:pPr>
            <a:r>
              <a:t>100 sampled test articles in our experiment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577840"/>
            <a:ext cx="1024128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5ADBA7"/>
                </a:solidFill>
                <a:latin typeface="Aptos"/>
              </a:defRPr>
            </a:pPr>
            <a:r>
              <a:t>Training split → demonstration candidates   |   Test split → evaluation only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47472"/>
            <a:ext cx="109728" cy="512064"/>
          </a:xfrm>
          <a:prstGeom prst="rect">
            <a:avLst/>
          </a:prstGeom>
          <a:solidFill>
            <a:srgbClr val="3D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67512" y="320040"/>
            <a:ext cx="1005840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3000" b="1">
                <a:solidFill>
                  <a:srgbClr val="F4F7FD"/>
                </a:solidFill>
                <a:latin typeface="Aptos"/>
              </a:defRPr>
            </a:pPr>
            <a:r>
              <a:t>04  |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96012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A0B0CA"/>
                </a:solidFill>
                <a:latin typeface="Aptos"/>
              </a:defRPr>
            </a:pPr>
            <a:r>
              <a:t>All three strategies use the same task instructions, class labels, test samples and LLM.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A0B0CA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36792"/>
            <a:ext cx="10789920" cy="16459"/>
          </a:xfrm>
          <a:prstGeom prst="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090672" cy="3337560"/>
          </a:xfrm>
          <a:prstGeom prst="round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50976" y="1874519"/>
            <a:ext cx="6400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3DD5D2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615184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F4F7FD"/>
                </a:solidFill>
                <a:latin typeface="Aptos"/>
              </a:defRPr>
            </a:pPr>
            <a:r>
              <a:t>Zero-Shot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3310128"/>
            <a:ext cx="2651760" cy="12618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A0B0CA"/>
                </a:solidFill>
                <a:latin typeface="Aptos"/>
              </a:defRPr>
            </a:pPr>
            <a:r>
              <a:t>Task instructions + input text</a:t>
            </a:r>
          </a:p>
          <a:p>
            <a:pPr>
              <a:spcAft>
                <a:spcPts val="1000"/>
              </a:spcAft>
              <a:defRPr sz="1800" b="0">
                <a:solidFill>
                  <a:srgbClr val="A0B0CA"/>
                </a:solidFill>
                <a:latin typeface="Aptos"/>
              </a:defRPr>
            </a:pPr>
            <a:r>
              <a:t>No demonstrations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62856" y="1691640"/>
            <a:ext cx="3090672" cy="3337560"/>
          </a:xfrm>
          <a:prstGeom prst="round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82312" y="1874519"/>
            <a:ext cx="6400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5ADBA7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615184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F4F7FD"/>
                </a:solidFill>
                <a:latin typeface="Aptos"/>
              </a:defRPr>
            </a:pPr>
            <a:r>
              <a:t>Good Few-Shot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82312" y="3310128"/>
            <a:ext cx="2651760" cy="12618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A0B0CA"/>
                </a:solidFill>
                <a:latin typeface="Aptos"/>
              </a:defRPr>
            </a:pPr>
            <a:r>
              <a:t>Highest TF-IDF cosine similarity</a:t>
            </a:r>
          </a:p>
          <a:p>
            <a:pPr>
              <a:spcAft>
                <a:spcPts val="1000"/>
              </a:spcAft>
              <a:defRPr sz="1800" b="0">
                <a:solidFill>
                  <a:srgbClr val="A0B0CA"/>
                </a:solidFill>
                <a:latin typeface="Aptos"/>
              </a:defRPr>
            </a:pPr>
            <a:r>
              <a:t>1 correctly labeled example / class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94192" y="1691640"/>
            <a:ext cx="3090672" cy="3337560"/>
          </a:xfrm>
          <a:prstGeom prst="round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13648" y="1874519"/>
            <a:ext cx="6400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FFB365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13648" y="2615184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F4F7FD"/>
                </a:solidFill>
                <a:latin typeface="Aptos"/>
              </a:defRPr>
            </a:pPr>
            <a:r>
              <a:t>Poor Few-Shot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3310128"/>
            <a:ext cx="2651760" cy="12618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A0B0CA"/>
                </a:solidFill>
                <a:latin typeface="Aptos"/>
              </a:defRPr>
            </a:pPr>
            <a:r>
              <a:t>Lowest TF-IDF cosine similarity</a:t>
            </a:r>
          </a:p>
          <a:p>
            <a:pPr>
              <a:spcAft>
                <a:spcPts val="1000"/>
              </a:spcAft>
              <a:defRPr sz="1800" b="0">
                <a:solidFill>
                  <a:srgbClr val="A0B0CA"/>
                </a:solidFill>
                <a:latin typeface="Aptos"/>
              </a:defRPr>
            </a:pPr>
            <a:r>
              <a:t>1 correctly labeled example / class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" y="5413248"/>
            <a:ext cx="10607040" cy="6126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F4F7FD"/>
                </a:solidFill>
                <a:latin typeface="Aptos"/>
              </a:defRPr>
            </a:pPr>
            <a:r>
              <a:t>TF-IDF ranks candidate training texts per test item and per class; original labels are preserved.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47472"/>
            <a:ext cx="109728" cy="512064"/>
          </a:xfrm>
          <a:prstGeom prst="rect">
            <a:avLst/>
          </a:prstGeom>
          <a:solidFill>
            <a:srgbClr val="3D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67512" y="320040"/>
            <a:ext cx="1005840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3000" b="1">
                <a:solidFill>
                  <a:srgbClr val="F4F7FD"/>
                </a:solidFill>
                <a:latin typeface="Aptos"/>
              </a:defRPr>
            </a:pPr>
            <a:r>
              <a:t>05  |  Experimental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96012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A0B0CA"/>
                </a:solidFill>
                <a:latin typeface="Aptos"/>
              </a:defRPr>
            </a:pPr>
            <a:r>
              <a:t>Controlled comparison on a local model; no model fine-tuning.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A0B0CA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36792"/>
            <a:ext cx="10789920" cy="16459"/>
          </a:xfrm>
          <a:prstGeom prst="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3520440"/>
          </a:xfrm>
          <a:prstGeom prst="round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32688" y="1883664"/>
            <a:ext cx="59436" cy="338328"/>
          </a:xfrm>
          <a:prstGeom prst="rect">
            <a:avLst/>
          </a:prstGeom>
          <a:solidFill>
            <a:srgbClr val="3D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33856" y="1828800"/>
            <a:ext cx="46177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100" b="1">
                <a:solidFill>
                  <a:srgbClr val="F4F7FD"/>
                </a:solidFill>
                <a:latin typeface="Aptos"/>
              </a:defRPr>
            </a:pPr>
            <a:r>
              <a:t>Model and environment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468880"/>
            <a:ext cx="4681728" cy="2606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A0B0CA"/>
                </a:solidFill>
                <a:latin typeface="Aptos"/>
              </a:defRPr>
            </a:pPr>
            <a:r>
              <a:t>Ollama • qwen2.5:3b</a:t>
            </a:r>
          </a:p>
          <a:p>
            <a:pPr>
              <a:spcAft>
                <a:spcPts val="1000"/>
              </a:spcAft>
              <a:defRPr sz="1900" b="0">
                <a:solidFill>
                  <a:srgbClr val="A0B0CA"/>
                </a:solidFill>
                <a:latin typeface="Aptos"/>
              </a:defRPr>
            </a:pPr>
            <a:r>
              <a:t>Local inference on a 16 GB RAM machine</a:t>
            </a:r>
          </a:p>
          <a:p>
            <a:pPr>
              <a:spcAft>
                <a:spcPts val="1000"/>
              </a:spcAft>
              <a:defRPr sz="1900" b="0">
                <a:solidFill>
                  <a:srgbClr val="A0B0CA"/>
                </a:solidFill>
                <a:latin typeface="Aptos"/>
              </a:defRPr>
            </a:pPr>
            <a:r>
              <a:t>Fixed random seed: 42</a:t>
            </a:r>
          </a:p>
          <a:p>
            <a:pPr>
              <a:spcAft>
                <a:spcPts val="1000"/>
              </a:spcAft>
              <a:defRPr sz="1900" b="0">
                <a:solidFill>
                  <a:srgbClr val="A0B0CA"/>
                </a:solidFill>
                <a:latin typeface="Aptos"/>
              </a:defRPr>
            </a:pPr>
            <a:r>
              <a:t>Same 100 test samples per dataset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645920"/>
            <a:ext cx="5212080" cy="3520440"/>
          </a:xfrm>
          <a:prstGeom prst="round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82512" y="1883664"/>
            <a:ext cx="59436" cy="338328"/>
          </a:xfrm>
          <a:prstGeom prst="rect">
            <a:avLst/>
          </a:prstGeom>
          <a:solidFill>
            <a:srgbClr val="5C8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0" y="1828800"/>
            <a:ext cx="46177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100" b="1">
                <a:solidFill>
                  <a:srgbClr val="F4F7FD"/>
                </a:solidFill>
                <a:latin typeface="Aptos"/>
              </a:defRPr>
            </a:pPr>
            <a:r>
              <a:t>Evaluation protocol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2468880"/>
            <a:ext cx="4681728" cy="2606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A0B0CA"/>
                </a:solidFill>
                <a:latin typeface="Aptos"/>
              </a:defRPr>
            </a:pPr>
            <a:r>
              <a:t>3 strategies × 2 datasets × 100 texts</a:t>
            </a:r>
          </a:p>
          <a:p>
            <a:pPr>
              <a:spcAft>
                <a:spcPts val="1000"/>
              </a:spcAft>
              <a:defRPr sz="1900" b="0">
                <a:solidFill>
                  <a:srgbClr val="A0B0CA"/>
                </a:solidFill>
                <a:latin typeface="Aptos"/>
              </a:defRPr>
            </a:pPr>
            <a:r>
              <a:t>600 model calls in total</a:t>
            </a:r>
          </a:p>
          <a:p>
            <a:pPr>
              <a:spcAft>
                <a:spcPts val="1000"/>
              </a:spcAft>
              <a:defRPr sz="1900" b="0">
                <a:solidFill>
                  <a:srgbClr val="A0B0CA"/>
                </a:solidFill>
                <a:latin typeface="Aptos"/>
              </a:defRPr>
            </a:pPr>
            <a:r>
              <a:t>Invalid output counts as incorrect</a:t>
            </a:r>
          </a:p>
          <a:p>
            <a:pPr>
              <a:spcAft>
                <a:spcPts val="1000"/>
              </a:spcAft>
              <a:defRPr sz="1900" b="0">
                <a:solidFill>
                  <a:srgbClr val="A0B0CA"/>
                </a:solidFill>
                <a:latin typeface="Aptos"/>
              </a:defRPr>
            </a:pPr>
            <a:r>
              <a:t>Report accuracy and macro 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522976"/>
            <a:ext cx="1024128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5ADBA7"/>
                </a:solidFill>
                <a:latin typeface="Aptos"/>
              </a:defRPr>
            </a:pPr>
            <a:r>
              <a:t>Implementation: Python  •  Streamlit  •  scikit-learn  •  Hugging Face Datasets  •  Ollama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47472"/>
            <a:ext cx="109728" cy="512064"/>
          </a:xfrm>
          <a:prstGeom prst="rect">
            <a:avLst/>
          </a:prstGeom>
          <a:solidFill>
            <a:srgbClr val="3D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67512" y="320040"/>
            <a:ext cx="1005840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3000" b="1">
                <a:solidFill>
                  <a:srgbClr val="F4F7FD"/>
                </a:solidFill>
                <a:latin typeface="Aptos"/>
              </a:defRPr>
            </a:pPr>
            <a:r>
              <a:t>06  |  Results: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96012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A0B0CA"/>
                </a:solidFill>
                <a:latin typeface="Aptos"/>
              </a:defRPr>
            </a:pPr>
            <a:r>
              <a:t>Good Few-Shot improved on Zero-Shot in both datasets; relevance mattered more on AG News.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A0B0CA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36792"/>
            <a:ext cx="10789920" cy="16459"/>
          </a:xfrm>
          <a:prstGeom prst="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300" b="1">
                <a:solidFill>
                  <a:srgbClr val="F4F7FD"/>
                </a:solidFill>
                <a:latin typeface="Aptos"/>
              </a:defRPr>
            </a:pPr>
            <a:r>
              <a:t>IMDb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178308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A0B0CA"/>
                </a:solidFill>
                <a:latin typeface="Aptos"/>
              </a:defRPr>
            </a:pPr>
            <a:r>
              <a:t>Zero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68880" y="2267712"/>
            <a:ext cx="2423160" cy="411480"/>
          </a:xfrm>
          <a:prstGeom prst="round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468880" y="2267712"/>
            <a:ext cx="2229307" cy="411480"/>
          </a:xfrm>
          <a:prstGeom prst="roundRect">
            <a:avLst/>
          </a:prstGeom>
          <a:solidFill>
            <a:srgbClr val="5C8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53128" y="2761488"/>
            <a:ext cx="640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4F7FD"/>
                </a:solidFill>
                <a:latin typeface="Aptos"/>
              </a:defRPr>
            </a:pPr>
            <a:r>
              <a:t>92%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178308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A0B0CA"/>
                </a:solidFill>
                <a:latin typeface="Aptos"/>
              </a:defRPr>
            </a:pPr>
            <a:r>
              <a:t>Good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94960" y="2267712"/>
            <a:ext cx="2423160" cy="411480"/>
          </a:xfrm>
          <a:prstGeom prst="round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394960" y="2267712"/>
            <a:ext cx="2302002" cy="411480"/>
          </a:xfrm>
          <a:prstGeom prst="roundRect">
            <a:avLst/>
          </a:prstGeom>
          <a:solidFill>
            <a:srgbClr val="5ADB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79208" y="2761488"/>
            <a:ext cx="640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4F7FD"/>
                </a:solidFill>
                <a:latin typeface="Aptos"/>
              </a:defRPr>
            </a:pPr>
            <a:r>
              <a:t>95%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78308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A0B0CA"/>
                </a:solidFill>
                <a:latin typeface="Aptos"/>
              </a:defRPr>
            </a:pPr>
            <a:r>
              <a:t>Poor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2267712"/>
            <a:ext cx="2423160" cy="411480"/>
          </a:xfrm>
          <a:prstGeom prst="round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321040" y="2267712"/>
            <a:ext cx="2302002" cy="411480"/>
          </a:xfrm>
          <a:prstGeom prst="roundRect">
            <a:avLst/>
          </a:prstGeom>
          <a:solidFill>
            <a:srgbClr val="FFB3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305288" y="2761488"/>
            <a:ext cx="640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4F7FD"/>
                </a:solidFill>
                <a:latin typeface="Aptos"/>
              </a:defRPr>
            </a:pPr>
            <a:r>
              <a:t>95%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032504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300" b="1">
                <a:solidFill>
                  <a:srgbClr val="F4F7FD"/>
                </a:solidFill>
                <a:latin typeface="Aptos"/>
              </a:defRPr>
            </a:pPr>
            <a:r>
              <a:t>AG News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3666744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A0B0CA"/>
                </a:solidFill>
                <a:latin typeface="Aptos"/>
              </a:defRPr>
            </a:pPr>
            <a:r>
              <a:t>Zero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468880" y="4151376"/>
            <a:ext cx="2423160" cy="411480"/>
          </a:xfrm>
          <a:prstGeom prst="round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2468880" y="4151376"/>
            <a:ext cx="1647748" cy="411480"/>
          </a:xfrm>
          <a:prstGeom prst="roundRect">
            <a:avLst/>
          </a:prstGeom>
          <a:solidFill>
            <a:srgbClr val="5C8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53128" y="4645152"/>
            <a:ext cx="640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4F7FD"/>
                </a:solidFill>
                <a:latin typeface="Aptos"/>
              </a:defRPr>
            </a:pPr>
            <a:r>
              <a:t>68%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4960" y="3666744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A0B0CA"/>
                </a:solidFill>
                <a:latin typeface="Aptos"/>
              </a:defRPr>
            </a:pPr>
            <a:r>
              <a:t>Good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94960" y="4151376"/>
            <a:ext cx="2423160" cy="411480"/>
          </a:xfrm>
          <a:prstGeom prst="round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394960" y="4151376"/>
            <a:ext cx="1890064" cy="411480"/>
          </a:xfrm>
          <a:prstGeom prst="roundRect">
            <a:avLst/>
          </a:prstGeom>
          <a:solidFill>
            <a:srgbClr val="5ADB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379208" y="4645152"/>
            <a:ext cx="640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4F7FD"/>
                </a:solidFill>
                <a:latin typeface="Aptos"/>
              </a:defRPr>
            </a:pPr>
            <a:r>
              <a:t>78%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3666744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A0B0CA"/>
                </a:solidFill>
                <a:latin typeface="Aptos"/>
              </a:defRPr>
            </a:pPr>
            <a:r>
              <a:t>Poor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4151376"/>
            <a:ext cx="2423160" cy="411480"/>
          </a:xfrm>
          <a:prstGeom prst="round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321040" y="4151376"/>
            <a:ext cx="1671980" cy="411480"/>
          </a:xfrm>
          <a:prstGeom prst="roundRect">
            <a:avLst/>
          </a:prstGeom>
          <a:solidFill>
            <a:srgbClr val="FFB3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305288" y="4645152"/>
            <a:ext cx="640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4F7FD"/>
                </a:solidFill>
                <a:latin typeface="Aptos"/>
              </a:defRPr>
            </a:pPr>
            <a:r>
              <a:t>69%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94360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0">
                <a:solidFill>
                  <a:srgbClr val="A0B0CA"/>
                </a:solidFill>
                <a:latin typeface="Aptos"/>
              </a:defRPr>
            </a:pPr>
            <a:r>
              <a:t>Accuracy, n = 100 per dataset per strategy  •  Results from latest_summary(3).csv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47472"/>
            <a:ext cx="109728" cy="512064"/>
          </a:xfrm>
          <a:prstGeom prst="rect">
            <a:avLst/>
          </a:prstGeom>
          <a:solidFill>
            <a:srgbClr val="3D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67512" y="320040"/>
            <a:ext cx="1005840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3000" b="1">
                <a:solidFill>
                  <a:srgbClr val="F4F7FD"/>
                </a:solidFill>
                <a:latin typeface="Aptos"/>
              </a:defRPr>
            </a:pPr>
            <a:r>
              <a:t>07  |  Results: macro-F1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96012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A0B0CA"/>
                </a:solidFill>
                <a:latin typeface="Aptos"/>
              </a:defRPr>
            </a:pPr>
            <a:r>
              <a:t>Macro-F1 helps reveal class-level performance beyond overall accuracy.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A0B0CA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36792"/>
            <a:ext cx="10789920" cy="16459"/>
          </a:xfrm>
          <a:prstGeom prst="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2048255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300" b="1">
                <a:solidFill>
                  <a:srgbClr val="F4F7FD"/>
                </a:solidFill>
                <a:latin typeface="Aptos"/>
              </a:defRPr>
            </a:pPr>
            <a:r>
              <a:t>IMDb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1709928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A0B0CA"/>
                </a:solidFill>
                <a:latin typeface="Aptos"/>
              </a:defRPr>
            </a:pPr>
            <a:r>
              <a:t>Zero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68880" y="2185416"/>
            <a:ext cx="2423160" cy="411480"/>
          </a:xfrm>
          <a:prstGeom prst="round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468880" y="2185416"/>
            <a:ext cx="2229064" cy="411480"/>
          </a:xfrm>
          <a:prstGeom prst="roundRect">
            <a:avLst/>
          </a:prstGeom>
          <a:solidFill>
            <a:srgbClr val="5C8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06240" y="2697480"/>
            <a:ext cx="1005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4F7FD"/>
                </a:solidFill>
                <a:latin typeface="Aptos"/>
              </a:defRPr>
            </a:pPr>
            <a:r>
              <a:t>91.99%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1709928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A0B0CA"/>
                </a:solidFill>
                <a:latin typeface="Aptos"/>
              </a:defRPr>
            </a:pPr>
            <a:r>
              <a:t>Good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94960" y="2185416"/>
            <a:ext cx="2423160" cy="411480"/>
          </a:xfrm>
          <a:prstGeom prst="round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394960" y="2185416"/>
            <a:ext cx="2302002" cy="411480"/>
          </a:xfrm>
          <a:prstGeom prst="roundRect">
            <a:avLst/>
          </a:prstGeom>
          <a:solidFill>
            <a:srgbClr val="5ADB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32320" y="2697480"/>
            <a:ext cx="1005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4F7FD"/>
                </a:solidFill>
                <a:latin typeface="Aptos"/>
              </a:defRPr>
            </a:pPr>
            <a:r>
              <a:t>95.00%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709928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A0B0CA"/>
                </a:solidFill>
                <a:latin typeface="Aptos"/>
              </a:defRPr>
            </a:pPr>
            <a:r>
              <a:t>Poor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2185416"/>
            <a:ext cx="2423160" cy="411480"/>
          </a:xfrm>
          <a:prstGeom prst="round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321040" y="2185416"/>
            <a:ext cx="2302002" cy="411480"/>
          </a:xfrm>
          <a:prstGeom prst="roundRect">
            <a:avLst/>
          </a:prstGeom>
          <a:solidFill>
            <a:srgbClr val="FFB3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0" y="2697480"/>
            <a:ext cx="1005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4F7FD"/>
                </a:solidFill>
                <a:latin typeface="Aptos"/>
              </a:defRPr>
            </a:pPr>
            <a:r>
              <a:t>95.00%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22776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300" b="1">
                <a:solidFill>
                  <a:srgbClr val="F4F7FD"/>
                </a:solidFill>
                <a:latin typeface="Aptos"/>
              </a:defRPr>
            </a:pPr>
            <a:r>
              <a:t>AG News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3584448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A0B0CA"/>
                </a:solidFill>
                <a:latin typeface="Aptos"/>
              </a:defRPr>
            </a:pPr>
            <a:r>
              <a:t>Zero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468880" y="4059935"/>
            <a:ext cx="2423160" cy="411480"/>
          </a:xfrm>
          <a:prstGeom prst="round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2468880" y="4059935"/>
            <a:ext cx="1628848" cy="411480"/>
          </a:xfrm>
          <a:prstGeom prst="roundRect">
            <a:avLst/>
          </a:prstGeom>
          <a:solidFill>
            <a:srgbClr val="5C8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206240" y="4572000"/>
            <a:ext cx="1005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4F7FD"/>
                </a:solidFill>
                <a:latin typeface="Aptos"/>
              </a:defRPr>
            </a:pPr>
            <a:r>
              <a:t>67.22%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4960" y="3584448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A0B0CA"/>
                </a:solidFill>
                <a:latin typeface="Aptos"/>
              </a:defRPr>
            </a:pPr>
            <a:r>
              <a:t>Good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94960" y="4059935"/>
            <a:ext cx="2423160" cy="411480"/>
          </a:xfrm>
          <a:prstGeom prst="round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394960" y="4059935"/>
            <a:ext cx="1845963" cy="411480"/>
          </a:xfrm>
          <a:prstGeom prst="roundRect">
            <a:avLst/>
          </a:prstGeom>
          <a:solidFill>
            <a:srgbClr val="5ADB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132320" y="4572000"/>
            <a:ext cx="1005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4F7FD"/>
                </a:solidFill>
                <a:latin typeface="Aptos"/>
              </a:defRPr>
            </a:pPr>
            <a:r>
              <a:t>76.18%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3584448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A0B0CA"/>
                </a:solidFill>
                <a:latin typeface="Aptos"/>
              </a:defRPr>
            </a:pPr>
            <a:r>
              <a:t>Poor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4059935"/>
            <a:ext cx="2423160" cy="411480"/>
          </a:xfrm>
          <a:prstGeom prst="round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321040" y="4059935"/>
            <a:ext cx="1489274" cy="411480"/>
          </a:xfrm>
          <a:prstGeom prst="roundRect">
            <a:avLst/>
          </a:prstGeom>
          <a:solidFill>
            <a:srgbClr val="FFB3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058400" y="4572000"/>
            <a:ext cx="1005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4F7FD"/>
                </a:solidFill>
                <a:latin typeface="Aptos"/>
              </a:defRPr>
            </a:pPr>
            <a:r>
              <a:t>61.46%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585216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ADBA7"/>
                </a:solidFill>
                <a:latin typeface="Aptos"/>
              </a:defRPr>
            </a:pPr>
            <a:r>
              <a:t>AG News: Poor Few-Shot accuracy = 69%, but macro-F1 ≈ 61.46% → uneven class performance.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47472"/>
            <a:ext cx="109728" cy="512064"/>
          </a:xfrm>
          <a:prstGeom prst="rect">
            <a:avLst/>
          </a:prstGeom>
          <a:solidFill>
            <a:srgbClr val="3D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67512" y="320040"/>
            <a:ext cx="1005840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3000" b="1">
                <a:solidFill>
                  <a:srgbClr val="F4F7FD"/>
                </a:solidFill>
                <a:latin typeface="Aptos"/>
              </a:defRPr>
            </a:pPr>
            <a:r>
              <a:t>08  |  Interesting &amp; failure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96012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A0B0CA"/>
                </a:solidFill>
                <a:latin typeface="Aptos"/>
              </a:defRPr>
            </a:pPr>
            <a:r>
              <a:t>Identical aggregate IMDb scores hid four different predictions.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A0B0CA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36792"/>
            <a:ext cx="10789920" cy="16459"/>
          </a:xfrm>
          <a:prstGeom prst="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94944" y="1664208"/>
            <a:ext cx="5212080" cy="3611880"/>
          </a:xfrm>
          <a:prstGeom prst="round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96112" y="1901952"/>
            <a:ext cx="59436" cy="338328"/>
          </a:xfrm>
          <a:prstGeom prst="rect">
            <a:avLst/>
          </a:prstGeom>
          <a:solidFill>
            <a:srgbClr val="3D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1847088"/>
            <a:ext cx="46177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4F7FD"/>
                </a:solidFill>
                <a:latin typeface="Aptos"/>
              </a:defRPr>
            </a:pPr>
            <a:r>
              <a:t>IMDb: same 95% 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487168"/>
            <a:ext cx="4681728" cy="2697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A0B0CA"/>
                </a:solidFill>
                <a:latin typeface="Aptos"/>
              </a:defRPr>
            </a:pPr>
            <a:r>
              <a:t>96 / 100 predictions matched.</a:t>
            </a:r>
          </a:p>
          <a:p>
            <a:pPr>
              <a:spcAft>
                <a:spcPts val="1000"/>
              </a:spcAft>
              <a:defRPr sz="1800" b="0">
                <a:solidFill>
                  <a:srgbClr val="A0B0CA"/>
                </a:solidFill>
                <a:latin typeface="Aptos"/>
              </a:defRPr>
            </a:pPr>
            <a:r>
              <a:t>4 differed: samples 57, 58, 61, 100.</a:t>
            </a:r>
          </a:p>
          <a:p>
            <a:pPr>
              <a:spcAft>
                <a:spcPts val="1000"/>
              </a:spcAft>
              <a:defRPr sz="1800" b="0">
                <a:solidFill>
                  <a:srgbClr val="A0B0CA"/>
                </a:solidFill>
                <a:latin typeface="Aptos"/>
              </a:defRPr>
            </a:pPr>
            <a:r>
              <a:t>Good was right on 57 and 58; Poor on 61 and 100.</a:t>
            </a:r>
          </a:p>
          <a:p>
            <a:pPr>
              <a:spcAft>
                <a:spcPts val="1000"/>
              </a:spcAft>
              <a:defRPr sz="1800" b="0">
                <a:solidFill>
                  <a:srgbClr val="A0B0CA"/>
                </a:solidFill>
                <a:latin typeface="Aptos"/>
              </a:defRPr>
            </a:pPr>
            <a:r>
              <a:t>Both made 5 errors overall.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664208"/>
            <a:ext cx="5212080" cy="3611880"/>
          </a:xfrm>
          <a:prstGeom prst="round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0" y="1901952"/>
            <a:ext cx="59436" cy="338328"/>
          </a:xfrm>
          <a:prstGeom prst="rect">
            <a:avLst/>
          </a:prstGeom>
          <a:solidFill>
            <a:srgbClr val="FFB3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01968" y="1847088"/>
            <a:ext cx="46177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4F7FD"/>
                </a:solidFill>
                <a:latin typeface="Aptos"/>
              </a:defRPr>
            </a:pPr>
            <a:r>
              <a:t>AG News: ambiguity &amp; invalid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2487168"/>
            <a:ext cx="4681728" cy="2697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A0B0CA"/>
                </a:solidFill>
                <a:latin typeface="Aptos"/>
              </a:defRPr>
            </a:pPr>
            <a:r>
              <a:t>Example: a Cisco acquisition story was labeled Sci/Tech but Poor Few-Shot predicted Business.</a:t>
            </a:r>
          </a:p>
          <a:p>
            <a:pPr>
              <a:spcAft>
                <a:spcPts val="1000"/>
              </a:spcAft>
              <a:defRPr sz="1800" b="0">
                <a:solidFill>
                  <a:srgbClr val="A0B0CA"/>
                </a:solidFill>
                <a:latin typeface="Aptos"/>
              </a:defRPr>
            </a:pPr>
            <a:r>
              <a:t>Invalid outputs: Zero 6, Good 3, Poor 1 (of 100 each).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614416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5ADBA7"/>
                </a:solidFill>
                <a:latin typeface="Aptos"/>
              </a:defRPr>
            </a:pPr>
            <a:r>
              <a:t>Takeaway: compare individual predictions and class-wise metrics, not only headline accuracy.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47472"/>
            <a:ext cx="109728" cy="512064"/>
          </a:xfrm>
          <a:prstGeom prst="rect">
            <a:avLst/>
          </a:prstGeom>
          <a:solidFill>
            <a:srgbClr val="3D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67512" y="320040"/>
            <a:ext cx="1005840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3000" b="1">
                <a:solidFill>
                  <a:srgbClr val="F4F7FD"/>
                </a:solidFill>
                <a:latin typeface="Aptos"/>
              </a:defRPr>
            </a:pPr>
            <a:r>
              <a:t>09  |  Conclusion, limitations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96012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A0B0CA"/>
                </a:solidFill>
                <a:latin typeface="Aptos"/>
              </a:defRPr>
            </a:pPr>
            <a:r>
              <a:t>Prompt example relevance can help, but benefits depend on the dataset and evaluation details.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92240"/>
            <a:ext cx="457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A0B0CA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36792"/>
            <a:ext cx="10789920" cy="16459"/>
          </a:xfrm>
          <a:prstGeom prst="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94944" y="1600200"/>
            <a:ext cx="3474720" cy="4114800"/>
          </a:xfrm>
          <a:prstGeom prst="round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96112" y="1837943"/>
            <a:ext cx="59436" cy="338328"/>
          </a:xfrm>
          <a:prstGeom prst="rect">
            <a:avLst/>
          </a:prstGeom>
          <a:solidFill>
            <a:srgbClr val="5ADB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1783080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4F7FD"/>
                </a:solidFill>
                <a:latin typeface="Aptos"/>
              </a:defRPr>
            </a:pPr>
            <a:r>
              <a:t>Key conclusions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423160"/>
            <a:ext cx="2944368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A0B0CA"/>
                </a:solidFill>
                <a:latin typeface="Aptos"/>
              </a:defRPr>
            </a:pPr>
            <a:r>
              <a:t>Good Few-Shot: best AG News accuracy (78%).</a:t>
            </a:r>
          </a:p>
          <a:p>
            <a:pPr>
              <a:spcAft>
                <a:spcPts val="1000"/>
              </a:spcAft>
              <a:defRPr sz="1700" b="0">
                <a:solidFill>
                  <a:srgbClr val="A0B0CA"/>
                </a:solidFill>
                <a:latin typeface="Aptos"/>
              </a:defRPr>
            </a:pPr>
            <a:r>
              <a:t>IMDb: both few-shot strategies reached 95%.</a:t>
            </a:r>
          </a:p>
          <a:p>
            <a:pPr>
              <a:spcAft>
                <a:spcPts val="1000"/>
              </a:spcAft>
              <a:defRPr sz="1700" b="0">
                <a:solidFill>
                  <a:srgbClr val="A0B0CA"/>
                </a:solidFill>
                <a:latin typeface="Aptos"/>
              </a:defRPr>
            </a:pPr>
            <a:r>
              <a:t>Identical metrics ≠ identical predictions.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1688" y="1600200"/>
            <a:ext cx="3474720" cy="4114800"/>
          </a:xfrm>
          <a:prstGeom prst="round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62855" y="1837943"/>
            <a:ext cx="59436" cy="338328"/>
          </a:xfrm>
          <a:prstGeom prst="rect">
            <a:avLst/>
          </a:prstGeom>
          <a:solidFill>
            <a:srgbClr val="FFB3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64024" y="1783080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4F7FD"/>
                </a:solidFill>
                <a:latin typeface="Aptos"/>
              </a:defRPr>
            </a:pPr>
            <a:r>
              <a:t>Limitations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7" y="2423160"/>
            <a:ext cx="2944368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A0B0CA"/>
                </a:solidFill>
                <a:latin typeface="Aptos"/>
              </a:defRPr>
            </a:pPr>
            <a:r>
              <a:t>Only 100 test texts per dataset.</a:t>
            </a:r>
          </a:p>
          <a:p>
            <a:pPr>
              <a:spcAft>
                <a:spcPts val="1000"/>
              </a:spcAft>
              <a:defRPr sz="1700" b="0">
                <a:solidFill>
                  <a:srgbClr val="A0B0CA"/>
                </a:solidFill>
                <a:latin typeface="Aptos"/>
              </a:defRPr>
            </a:pPr>
            <a:r>
              <a:t>One random seed and one local LLM.</a:t>
            </a:r>
          </a:p>
          <a:p>
            <a:pPr>
              <a:spcAft>
                <a:spcPts val="1000"/>
              </a:spcAft>
              <a:defRPr sz="1700" b="0">
                <a:solidFill>
                  <a:srgbClr val="A0B0CA"/>
                </a:solidFill>
                <a:latin typeface="Aptos"/>
              </a:defRPr>
            </a:pPr>
            <a:r>
              <a:t>TF-IDF captures lexical, not semantic, relevance.</a:t>
            </a:r>
          </a:p>
          <a:p>
            <a:pPr>
              <a:spcAft>
                <a:spcPts val="1000"/>
              </a:spcAft>
              <a:defRPr sz="1700" b="0">
                <a:solidFill>
                  <a:srgbClr val="A0B0CA"/>
                </a:solidFill>
                <a:latin typeface="Aptos"/>
              </a:defRPr>
            </a:pPr>
            <a:r>
              <a:t>Output-format failures.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1600200"/>
            <a:ext cx="3474720" cy="4114800"/>
          </a:xfrm>
          <a:prstGeom prst="roundRect">
            <a:avLst/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29600" y="1837943"/>
            <a:ext cx="59436" cy="338328"/>
          </a:xfrm>
          <a:prstGeom prst="rect">
            <a:avLst/>
          </a:prstGeom>
          <a:solidFill>
            <a:srgbClr val="5C8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30767" y="1783080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4F7FD"/>
                </a:solidFill>
                <a:latin typeface="Aptos"/>
              </a:defRPr>
            </a:pPr>
            <a:r>
              <a:t>Future improvements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2" y="2423160"/>
            <a:ext cx="2944368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A0B0CA"/>
                </a:solidFill>
                <a:latin typeface="Aptos"/>
              </a:defRPr>
            </a:pPr>
            <a:r>
              <a:t>Repeat across seeds and larger samples.</a:t>
            </a:r>
          </a:p>
          <a:p>
            <a:pPr>
              <a:spcAft>
                <a:spcPts val="1000"/>
              </a:spcAft>
              <a:defRPr sz="1700" b="0">
                <a:solidFill>
                  <a:srgbClr val="A0B0CA"/>
                </a:solidFill>
                <a:latin typeface="Aptos"/>
              </a:defRPr>
            </a:pPr>
            <a:r>
              <a:t>Test semantic embeddings and more shot counts.</a:t>
            </a:r>
          </a:p>
          <a:p>
            <a:pPr>
              <a:spcAft>
                <a:spcPts val="1000"/>
              </a:spcAft>
              <a:defRPr sz="1700" b="0">
                <a:solidFill>
                  <a:srgbClr val="A0B0CA"/>
                </a:solidFill>
                <a:latin typeface="Aptos"/>
              </a:defRPr>
            </a:pPr>
            <a:r>
              <a:t>Add confusion matrices, confidence intervals and error analysis.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7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096669"/>
            <a:ext cx="1091153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dirty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166360"/>
            <a:ext cx="1091153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dirty="0" err="1">
                <a:solidFill>
                  <a:srgbClr val="C2CBDB"/>
                </a:solidFill>
              </a:rPr>
              <a:t>PromptEval</a:t>
            </a:r>
            <a:r>
              <a:rPr sz="1500" b="0" dirty="0">
                <a:solidFill>
                  <a:srgbClr val="C2CBDB"/>
                </a:solidFill>
              </a:rPr>
              <a:t>  |  Zero-Shot vs Good Few-Shot vs Poor Few-Shot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40135" y="6382512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2CBDB"/>
                </a:solidFill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769</Words>
  <Application>Microsoft Office PowerPoint</Application>
  <PresentationFormat>Widescreen</PresentationFormat>
  <Paragraphs>138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Anzar Eqbal</cp:lastModifiedBy>
  <cp:revision>4</cp:revision>
  <dcterms:created xsi:type="dcterms:W3CDTF">2013-01-27T09:14:16Z</dcterms:created>
  <dcterms:modified xsi:type="dcterms:W3CDTF">2026-10-19T18:31:18Z</dcterms:modified>
  <cp:category/>
</cp:coreProperties>
</file>